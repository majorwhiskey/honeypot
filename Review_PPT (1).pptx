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4630400" cy="8229600"/>
  <p:notesSz cx="8229600" cy="14630400"/>
  <p:embeddedFontLst>
    <p:embeddedFont>
      <p:font typeface="Impact" panose="020B0806030902050204" pitchFamily="34" charset="0"/>
      <p:regular r:id="rId12"/>
    </p:embeddedFont>
    <p:embeddedFont>
      <p:font typeface="Roboto" panose="02000000000000000000" pitchFamily="2" charset="0"/>
      <p:regular r:id="rId13"/>
      <p:bold r:id="rId14"/>
    </p:embeddedFont>
    <p:embeddedFont>
      <p:font typeface="Roboto Slab" pitchFamily="2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7B8"/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6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9050" y="1"/>
            <a:ext cx="14020572" cy="7905750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1" y="5138709"/>
            <a:ext cx="13595108" cy="2434614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1" y="1"/>
            <a:ext cx="10463495" cy="548252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94160" y="351980"/>
            <a:ext cx="13640539" cy="6902165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1069442" y="795187"/>
            <a:ext cx="11706224" cy="3319834"/>
          </a:xfrm>
        </p:spPr>
        <p:txBody>
          <a:bodyPr anchor="b">
            <a:normAutofit/>
          </a:bodyPr>
          <a:lstStyle>
            <a:lvl1pPr algn="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1179675" y="4206251"/>
            <a:ext cx="11706224" cy="660400"/>
          </a:xfrm>
        </p:spPr>
        <p:txBody>
          <a:bodyPr anchor="t">
            <a:noAutofit/>
          </a:bodyPr>
          <a:lstStyle>
            <a:lvl1pPr marL="0" indent="0" algn="r">
              <a:buNone/>
              <a:defRPr sz="336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5938250" y="5494156"/>
            <a:ext cx="7372384" cy="1395734"/>
          </a:xfrm>
        </p:spPr>
        <p:txBody>
          <a:bodyPr/>
          <a:lstStyle>
            <a:lvl1pPr algn="ctr">
              <a:defRPr sz="648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6672" y="5859629"/>
            <a:ext cx="4856687" cy="1434646"/>
          </a:xfrm>
        </p:spPr>
        <p:txBody>
          <a:bodyPr vert="horz" lIns="91440" tIns="45720" rIns="91440" bIns="45720" rtlCol="0" anchor="ctr"/>
          <a:lstStyle>
            <a:lvl1pPr algn="r">
              <a:defRPr lang="en-US" sz="648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11822110" y="4599178"/>
            <a:ext cx="1088623" cy="598164"/>
          </a:xfrm>
        </p:spPr>
        <p:txBody>
          <a:bodyPr/>
          <a:lstStyle>
            <a:lvl1pPr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5065662" y="6133627"/>
            <a:ext cx="618463" cy="618463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7434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822961" y="2476076"/>
            <a:ext cx="12473648" cy="3973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2227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822961"/>
            <a:ext cx="12473648" cy="3832184"/>
          </a:xfrm>
        </p:spPr>
        <p:txBody>
          <a:bodyPr anchor="b">
            <a:normAutofit/>
          </a:bodyPr>
          <a:lstStyle>
            <a:lvl1pPr algn="l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2" y="4490720"/>
            <a:ext cx="12473648" cy="1967537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32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22961" y="822960"/>
            <a:ext cx="12476258" cy="13897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822960" y="2476076"/>
            <a:ext cx="6106457" cy="3973427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192765" y="2476076"/>
            <a:ext cx="6103846" cy="3973427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155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822962" y="822960"/>
            <a:ext cx="12473648" cy="13897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027" y="2476075"/>
            <a:ext cx="5827390" cy="8159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12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2963" y="3434080"/>
            <a:ext cx="6106454" cy="301542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1830" y="2476075"/>
            <a:ext cx="5837389" cy="8159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12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192763" y="3434080"/>
            <a:ext cx="6106456" cy="301542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683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750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945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72" y="822960"/>
            <a:ext cx="4952232" cy="2427902"/>
          </a:xfrm>
        </p:spPr>
        <p:txBody>
          <a:bodyPr anchor="b">
            <a:normAutofit/>
          </a:bodyPr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55359" y="822961"/>
            <a:ext cx="7241250" cy="5626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2371" y="3250863"/>
            <a:ext cx="4952233" cy="319864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9497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22960"/>
            <a:ext cx="7614362" cy="2427902"/>
          </a:xfrm>
        </p:spPr>
        <p:txBody>
          <a:bodyPr anchor="b">
            <a:normAutofit/>
          </a:bodyPr>
          <a:lstStyle>
            <a:lvl1pPr algn="ctr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78835" y="0"/>
            <a:ext cx="4317775" cy="6085840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2" y="3250863"/>
            <a:ext cx="7614361" cy="2834977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234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927600"/>
            <a:ext cx="12473650" cy="706615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2962" y="822959"/>
            <a:ext cx="12471016" cy="3833884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36" y="5643508"/>
            <a:ext cx="12473674" cy="818966"/>
          </a:xfrm>
        </p:spPr>
        <p:txBody>
          <a:bodyPr anchor="t"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54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822960"/>
            <a:ext cx="12476282" cy="3833884"/>
          </a:xfrm>
        </p:spPr>
        <p:txBody>
          <a:bodyPr anchor="ctr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35" y="4927600"/>
            <a:ext cx="12473675" cy="15283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2972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078" y="822960"/>
            <a:ext cx="11430024" cy="3500045"/>
          </a:xfrm>
        </p:spPr>
        <p:txBody>
          <a:bodyPr anchor="ctr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860317" y="4332038"/>
            <a:ext cx="10401547" cy="453322"/>
          </a:xfrm>
        </p:spPr>
        <p:txBody>
          <a:bodyPr anchor="t">
            <a:normAutofit/>
          </a:bodyPr>
          <a:lstStyle>
            <a:lvl1pPr marL="0" indent="0" algn="r">
              <a:buNone/>
              <a:defRPr sz="16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4927601"/>
            <a:ext cx="12476258" cy="15219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1" y="10711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67700" y="350739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94323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2068625"/>
            <a:ext cx="12473648" cy="3014202"/>
          </a:xfrm>
        </p:spPr>
        <p:txBody>
          <a:bodyPr anchor="b">
            <a:normAutofit/>
          </a:bodyPr>
          <a:lstStyle>
            <a:lvl1pPr algn="l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5096962"/>
            <a:ext cx="12473648" cy="1368773"/>
          </a:xfrm>
        </p:spPr>
        <p:txBody>
          <a:bodyPr anchor="t"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728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22963" y="822961"/>
            <a:ext cx="12473647" cy="13823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2" y="2476074"/>
            <a:ext cx="397215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62" y="3167589"/>
            <a:ext cx="3972154" cy="32819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1546" y="2476074"/>
            <a:ext cx="397215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081545" y="3167589"/>
            <a:ext cx="3972154" cy="32819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324456" y="2476074"/>
            <a:ext cx="397215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324456" y="3167589"/>
            <a:ext cx="3972154" cy="32819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579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22961" y="822961"/>
            <a:ext cx="12476258" cy="13823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30208" y="4575630"/>
            <a:ext cx="397215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64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2936" y="2476075"/>
            <a:ext cx="3972154" cy="1844070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30208" y="5267145"/>
            <a:ext cx="3972154" cy="1182359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4892" y="4575630"/>
            <a:ext cx="397215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64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083199" y="2476075"/>
            <a:ext cx="3972154" cy="1842284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083199" y="5267143"/>
            <a:ext cx="3972154" cy="118236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322733" y="4575630"/>
            <a:ext cx="397215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64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322583" y="2476073"/>
            <a:ext cx="3972154" cy="184463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322583" y="5267141"/>
            <a:ext cx="3972154" cy="118236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750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822961" y="2476075"/>
            <a:ext cx="12473648" cy="397342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0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79035" y="822961"/>
            <a:ext cx="2717575" cy="562654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822961" y="822961"/>
            <a:ext cx="9485317" cy="56265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8688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811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6667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370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686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927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276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1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jp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30476" y="1"/>
            <a:ext cx="14406420" cy="7972897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1" y="822961"/>
            <a:ext cx="12476258" cy="1382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476076"/>
            <a:ext cx="12476260" cy="3973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57700" y="6908801"/>
            <a:ext cx="4541520" cy="598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2" y="6908801"/>
            <a:ext cx="6599663" cy="598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4545" y="6908801"/>
            <a:ext cx="1088623" cy="598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64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648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svg"/><Relationship Id="rId11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.pn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01748"/>
            <a:ext cx="1886545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2852" y="1661279"/>
            <a:ext cx="164842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PRAGYAN EDUSEC LLP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54185"/>
            <a:ext cx="58359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Cybersecurity Internship — Phase 2 Review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7191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Pragyan EduSec LLP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562231"/>
            <a:ext cx="13042821" cy="14883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4679" y="38575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 Name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397990"/>
            <a:ext cx="2143048" cy="369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AMOGH P UKKADGATRI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211946" y="3855153"/>
            <a:ext cx="1886545" cy="340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Guide/Mentor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252701" y="4314316"/>
            <a:ext cx="18050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AMAAN MUCHALE</a:t>
            </a:r>
            <a:endParaRPr lang="en-US" sz="15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576381"/>
            <a:ext cx="310039" cy="24800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50321" y="554530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Company</a:t>
            </a:r>
          </a:p>
        </p:txBody>
      </p:sp>
      <p:sp>
        <p:nvSpPr>
          <p:cNvPr id="14" name="Text 11"/>
          <p:cNvSpPr/>
          <p:nvPr/>
        </p:nvSpPr>
        <p:spPr>
          <a:xfrm>
            <a:off x="1350321" y="5917971"/>
            <a:ext cx="24460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Pragyan </a:t>
            </a:r>
            <a:r>
              <a:rPr lang="en-US" sz="19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EduSec</a:t>
            </a: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LLP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66666C-46FF-3A0C-82F6-F8DF34641D09}"/>
              </a:ext>
            </a:extLst>
          </p:cNvPr>
          <p:cNvSpPr/>
          <p:nvPr/>
        </p:nvSpPr>
        <p:spPr>
          <a:xfrm>
            <a:off x="12868275" y="7767638"/>
            <a:ext cx="1709738" cy="371475"/>
          </a:xfrm>
          <a:prstGeom prst="rect">
            <a:avLst/>
          </a:prstGeom>
          <a:solidFill>
            <a:srgbClr val="FBFC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A0EF02-C194-D6AF-7569-27DC8B3DB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6567" y="5395839"/>
            <a:ext cx="1250442" cy="12504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4B4188-5F9E-CC22-4A65-5D340FF5B67B}"/>
              </a:ext>
            </a:extLst>
          </p:cNvPr>
          <p:cNvSpPr txBox="1"/>
          <p:nvPr/>
        </p:nvSpPr>
        <p:spPr>
          <a:xfrm>
            <a:off x="3981450" y="3818490"/>
            <a:ext cx="832619" cy="388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USN</a:t>
            </a:r>
            <a:endParaRPr lang="en-US" sz="195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35921A7-66CD-1B01-5D6A-F22C7418CFA4}"/>
              </a:ext>
            </a:extLst>
          </p:cNvPr>
          <p:cNvSpPr/>
          <p:nvPr/>
        </p:nvSpPr>
        <p:spPr>
          <a:xfrm>
            <a:off x="3796392" y="4355638"/>
            <a:ext cx="1202734" cy="369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2KE22EC008</a:t>
            </a:r>
            <a:endParaRPr lang="en-US" sz="15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53D3824B-4F21-D487-D1E8-D9381FB75CE3}"/>
              </a:ext>
            </a:extLst>
          </p:cNvPr>
          <p:cNvSpPr/>
          <p:nvPr/>
        </p:nvSpPr>
        <p:spPr>
          <a:xfrm>
            <a:off x="1338611" y="171710"/>
            <a:ext cx="11953177" cy="114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K.L.E Society's</a:t>
            </a:r>
          </a:p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K.L.E. INSTITUTE OF TECHNOLOGY, HUBBALLI-27 </a:t>
            </a:r>
          </a:p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(Approved by AICTE, New Delhi, Affiliated to V.T.U. Belgaum and ISO 21001 : 2018 Certified) </a:t>
            </a:r>
          </a:p>
          <a:p>
            <a:pPr algn="ctr">
              <a:lnSpc>
                <a:spcPts val="2400"/>
              </a:lnSpc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(ALL UG Programs Accredited by NBA)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99F8F5-5164-AE09-D1BB-5938EDA9B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9238" y="-38097"/>
            <a:ext cx="1265099" cy="12434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91C86C-74CC-9E66-D3D3-33D363A2B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37" y="97547"/>
            <a:ext cx="1169187" cy="1169187"/>
          </a:xfrm>
          <a:prstGeom prst="rect">
            <a:avLst/>
          </a:pr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27BF36AC-20D9-D43B-A9DF-0BE44D2790EB}"/>
              </a:ext>
            </a:extLst>
          </p:cNvPr>
          <p:cNvSpPr/>
          <p:nvPr/>
        </p:nvSpPr>
        <p:spPr>
          <a:xfrm>
            <a:off x="6105800" y="3893284"/>
            <a:ext cx="23389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Internship Domain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8220113-9812-2C0A-F9B4-464B9C7C9B29}"/>
              </a:ext>
            </a:extLst>
          </p:cNvPr>
          <p:cNvSpPr/>
          <p:nvPr/>
        </p:nvSpPr>
        <p:spPr>
          <a:xfrm>
            <a:off x="6340661" y="4326046"/>
            <a:ext cx="1202734" cy="369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CYBERSECURITY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1969" y="287358"/>
            <a:ext cx="11416139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Company Profile – Pragyan EduSec LLP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304" y="1425774"/>
            <a:ext cx="13716000" cy="1284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forward-thinking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EdTech &amp; Cybersecurity training organization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headquartered in Karnataka, India, Pragyan EduSec LLP is built on a singular mission: transforming academic learners into industry-ready professionals through rigorous, hands-on skill development programs.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5304" y="2871177"/>
            <a:ext cx="6677974" cy="2119928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649521" y="3025440"/>
            <a:ext cx="3339260" cy="26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Industry-Oriented Training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44671" y="3451629"/>
            <a:ext cx="6225070" cy="1284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Curriculum designed to reflect real-world tools, workflows, and threat landscapes — not just theoretical frameworks.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237738" y="2871177"/>
            <a:ext cx="6677974" cy="2119928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9842571" y="3027626"/>
            <a:ext cx="4787829" cy="31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Experiential Programs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957834" y="3523907"/>
            <a:ext cx="5957878" cy="1284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internships, expert-led workshops, and access to digital lab platforms that simulate live environments.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5304" y="5213628"/>
            <a:ext cx="13716000" cy="1477628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444671" y="5458931"/>
            <a:ext cx="2874480" cy="22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Bridging the Skills Gap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44671" y="5841208"/>
            <a:ext cx="12995901" cy="64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Closes the critical divide between classroom knowledge and the practical competencies demanded by the cybersecurity and tech industries.</a:t>
            </a:r>
            <a:endParaRPr lang="en-US" sz="15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BA516C-ECDC-D796-ABAD-088522FA1BEF}"/>
              </a:ext>
            </a:extLst>
          </p:cNvPr>
          <p:cNvSpPr/>
          <p:nvPr/>
        </p:nvSpPr>
        <p:spPr>
          <a:xfrm>
            <a:off x="12868275" y="7767638"/>
            <a:ext cx="1709738" cy="371475"/>
          </a:xfrm>
          <a:prstGeom prst="rect">
            <a:avLst/>
          </a:prstGeom>
          <a:solidFill>
            <a:srgbClr val="FBFC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15AC0-4C73-381A-DCEB-8BC743F8E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728" y="-166337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211" y="30515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Internship Domain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331211" y="1322070"/>
            <a:ext cx="3218974" cy="373142"/>
          </a:xfrm>
          <a:prstGeom prst="roundRect">
            <a:avLst>
              <a:gd name="adj" fmla="val 6383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73" y="1429226"/>
            <a:ext cx="158710" cy="1587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8279" y="1381601"/>
            <a:ext cx="274284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CYBERSECURITY &amp; ETHICAL HACKING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31211" y="1918454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advances from foundational theory into advanced practical execution — covering offensive security tools, web application exploitation, real-world project development, and hands-on CTF-style challenges across professional-grade platforms.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11" y="3094315"/>
            <a:ext cx="676394" cy="6763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5612" y="3094315"/>
            <a:ext cx="2150269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Ethical Hacking &amp; Cisco NetAcad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255612" y="4143851"/>
            <a:ext cx="2767748" cy="2024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 all Cisco Ethical Hacker modules — threat actor profiling, OSINT, Nmap scanning, Metasploit, and the Cyber Kill Chain framework.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888" y="3094315"/>
            <a:ext cx="676394" cy="6763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8289" y="3094315"/>
            <a:ext cx="215026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 Application Security (OverTheWire Natas)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4578288" y="4253241"/>
            <a:ext cx="3322677" cy="2771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Explored OWASP Top 10 vulnerabilities hands-on through Natas — HTML source exposure, cookie manipulation, directory listing, robots.txt leakage, and Referer header forgery.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565" y="3094315"/>
            <a:ext cx="676394" cy="6763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00966" y="3094315"/>
            <a:ext cx="215026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WiFi Security &amp; Wireless Penetration Testing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900965" y="4253241"/>
            <a:ext cx="3480625" cy="246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WPA2 penetration test on an authorized lab AP using Airmon-ng — monitor mode, 4-way handshake capture, deauth frames, and passphrase cracking with rockyou in under 3 minutes.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9242" y="3094315"/>
            <a:ext cx="676394" cy="6763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23644" y="3094315"/>
            <a:ext cx="215038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Project — Honeypot System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11223644" y="4128905"/>
            <a:ext cx="28042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and built a multi-service honeypot from scratch in Python — SSH + HTTP decoy services, GeoIP enrichment, SQLite logging, and a live cyberpunk threat-intelligence dashboard.</a:t>
            </a:r>
            <a:endParaRPr lang="en-US" sz="15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FF8480-1607-44F0-05AC-D85E463A096C}"/>
              </a:ext>
            </a:extLst>
          </p:cNvPr>
          <p:cNvSpPr/>
          <p:nvPr/>
        </p:nvSpPr>
        <p:spPr>
          <a:xfrm>
            <a:off x="12868275" y="7767638"/>
            <a:ext cx="1709738" cy="371475"/>
          </a:xfrm>
          <a:prstGeom prst="rect">
            <a:avLst/>
          </a:prstGeom>
          <a:solidFill>
            <a:srgbClr val="FBFC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51231A4-CD82-8A9B-3B60-F0E63A7336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9644" y="-47625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493" y="306537"/>
            <a:ext cx="536352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 Carried Out — Phase 2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21493" y="1253798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focused on advancing into practical offensive security, completing the full wargame curriculum, and delivering a production-quality real-world cybersecurity project.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85642" y="2043658"/>
            <a:ext cx="6563082" cy="3520928"/>
          </a:xfrm>
          <a:prstGeom prst="roundRect">
            <a:avLst>
              <a:gd name="adj" fmla="val 559"/>
            </a:avLst>
          </a:prstGeom>
          <a:solidFill>
            <a:srgbClr val="5E98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74118" y="2222728"/>
            <a:ext cx="278070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OverTheWire Natas — Web App Security (Levels 0–5)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74118" y="2696478"/>
            <a:ext cx="6186130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Finished all NetAcad modules covering OSINT recon, active Nmap scanning, Metasploit exploitation, Cyber Kill Chain, vulnerability analysis, and post-exploitation methodology.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74118" y="375815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Bash Security Scripting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4118" y="4231908"/>
            <a:ext cx="6186130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Wrote a subnet port scanner using /dev/tcp and a real-time brute-force login detector that parses auth logs using tail -f and grep — turning manual monitoring into automated alerting.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80551" y="1873935"/>
            <a:ext cx="409517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WiFi Security Lab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280552" y="2207954"/>
            <a:ext cx="6603788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WPA2 pen-test on an authorized lab AP — monitor mode, 4-way handshake capture, deauth frames, and password crack with rockyou in under 3 minutes. Also studied WPS Pixie Dust and Evil Twin attacks.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80552" y="3703569"/>
            <a:ext cx="420564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Cisco Ethical Hacker — Modules 1–7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315200" y="3984454"/>
            <a:ext cx="6603788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 the entire Bandit wargame: SSH key auth, encoding, SUID exploitation, cron privilege escalation, restricted shell escape via vi and $0 variable, and full Git forensics across branches, tags, and commit history.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80552" y="5238999"/>
            <a:ext cx="406467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OverTheWire Bandit — Levels 0–16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315200" y="5564586"/>
            <a:ext cx="6657261" cy="791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Exploited HTML source leakage, JS restriction bypass, directory listing, robots.txt disclosure, HTTP Referer forgery, and cookie auth bypass — proving that client-side data can never be trusted for authentication.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5EFF6D-B68E-7598-F406-52E45B026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3221" y="-95419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890" y="271295"/>
            <a:ext cx="4640104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 to Be Done — Phase 3 &amp; Beyond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404890" y="1198315"/>
            <a:ext cx="13067586" cy="57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Phase 2 complete, the focus now shifts to advanced web exploitation, certification preparation, and transitioning from guided labs to fully independent offensive security practice.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7668" y="2152811"/>
            <a:ext cx="6168509" cy="185499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9300" y="1967192"/>
            <a:ext cx="556736" cy="556736"/>
          </a:xfrm>
          <a:prstGeom prst="roundRect">
            <a:avLst>
              <a:gd name="adj" fmla="val 8212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484" y="2106377"/>
            <a:ext cx="278368" cy="27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00" y="2697403"/>
            <a:ext cx="4345424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Natas Levels (6+) &amp; Deep Web Security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4800" y="3091500"/>
            <a:ext cx="6075998" cy="1149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 through Natas 6+ which introduce PHP source analysis, SQL injection, Local File Inclusion (LFI), command injection, and more advanced OWASP Top 10 vulnerability classes.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03729" y="2153792"/>
            <a:ext cx="6168628" cy="185499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025360" y="1968173"/>
            <a:ext cx="556736" cy="556736"/>
          </a:xfrm>
          <a:prstGeom prst="roundRect">
            <a:avLst>
              <a:gd name="adj" fmla="val 8212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4545" y="2107357"/>
            <a:ext cx="278368" cy="27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0860" y="2698384"/>
            <a:ext cx="3459480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TryHackMe &amp; HackTheBox CTF Platforms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210860" y="3092481"/>
            <a:ext cx="6076117" cy="1149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Tackle guided rooms on TryHackMe and real machines on HackTheBox to build structured methodology: enumeration, exploitation, privilege escalation, and professional report writing.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17669" y="4691004"/>
            <a:ext cx="5953448" cy="185499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439300" y="4505385"/>
            <a:ext cx="537326" cy="556736"/>
          </a:xfrm>
          <a:prstGeom prst="roundRect">
            <a:avLst>
              <a:gd name="adj" fmla="val 8212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484" y="4644569"/>
            <a:ext cx="268663" cy="27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0391" y="5065280"/>
            <a:ext cx="43404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Certification Roadmap — eJPT, CEH, OSCP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90390" y="5459377"/>
            <a:ext cx="5864162" cy="86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Pursue eJPT as the first practical offensive credential, followed by CompTIA Security+, CEH, and ultimately OSCP — the gold standard in penetration testing certifications.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303729" y="4686179"/>
            <a:ext cx="5953563" cy="185499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025360" y="4508544"/>
            <a:ext cx="537326" cy="556736"/>
          </a:xfrm>
          <a:prstGeom prst="roundRect">
            <a:avLst>
              <a:gd name="adj" fmla="val 82122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4545" y="4712665"/>
            <a:ext cx="268663" cy="27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0860" y="5091766"/>
            <a:ext cx="3615229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Cloud Security &amp; Digital Forensics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210860" y="5485863"/>
            <a:ext cx="6849385" cy="86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cloud security on AWS and Azure, develop expertise in digital forensics and incident response, and contribute to open-source security tooling to build a public portfolio.</a:t>
            </a:r>
            <a:endParaRPr lang="en-US" sz="14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709984-DA2F-A4D5-F150-ABBEDEA5EA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13531" y="-135244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188" y="90487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Learnings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367188" y="970121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produced deep, practical learning outcomes — each grounded in hands-on execution. These are not theoretical takeaways; they are skills tested and validated under real lab and project conditions.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7188" y="1693902"/>
            <a:ext cx="4240411" cy="2686050"/>
          </a:xfrm>
          <a:prstGeom prst="roundRect">
            <a:avLst>
              <a:gd name="adj" fmla="val 408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28" y="1693902"/>
            <a:ext cx="91440" cy="2686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221" y="1895355"/>
            <a:ext cx="304883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Projects Build True Depth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7221" y="2270759"/>
            <a:ext cx="376892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the Honeypot System end-to-end — socket programming to live dashboard — taught architecture, debugging, and full-stack integration in a way no tutorial could replicate.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68333" y="1693902"/>
            <a:ext cx="4240411" cy="2686050"/>
          </a:xfrm>
          <a:prstGeom prst="roundRect">
            <a:avLst>
              <a:gd name="adj" fmla="val 408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473" y="1693902"/>
            <a:ext cx="91440" cy="2686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38367" y="1895355"/>
            <a:ext cx="3768923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 Applications Expose Surprising Weaknesses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038367" y="2549723"/>
            <a:ext cx="376892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 the first 5 Natas levels showed how HTML source, cookies, directory listings, robots.txt, and HTTP headers routinely leak sensitive data in ways developers consistently overlook.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169478" y="1693902"/>
            <a:ext cx="4240411" cy="2686050"/>
          </a:xfrm>
          <a:prstGeom prst="roundRect">
            <a:avLst>
              <a:gd name="adj" fmla="val 408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618" y="1693902"/>
            <a:ext cx="91440" cy="2686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39512" y="1895355"/>
            <a:ext cx="274189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WiFi is More Vulnerable Than Expected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439512" y="2270759"/>
            <a:ext cx="376892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Capturing a WPA2 handshake and cracking it in under 3 minutes demonstrated exactly why strong passphrases, WPA3 adoption, and disabling WPS are non-negotiable in any real network.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90048" y="4455835"/>
            <a:ext cx="5741811" cy="2181633"/>
          </a:xfrm>
          <a:prstGeom prst="roundRect">
            <a:avLst>
              <a:gd name="adj" fmla="val 408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79" y="4455835"/>
            <a:ext cx="97670" cy="20798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0081" y="4657289"/>
            <a:ext cx="5103383" cy="45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 History is Permanent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60081" y="5311656"/>
            <a:ext cx="5103383" cy="132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Credentials accidentally committed to a repo remain in git history even after deletion — a frequently exploited real-world vulnerability every developer and security professional must internalize.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089290" y="4455835"/>
            <a:ext cx="6320600" cy="2181633"/>
          </a:xfrm>
          <a:prstGeom prst="roundRect">
            <a:avLst>
              <a:gd name="adj" fmla="val 4085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5"/>
          <p:cNvSpPr/>
          <p:nvPr/>
        </p:nvSpPr>
        <p:spPr>
          <a:xfrm>
            <a:off x="7658336" y="4742140"/>
            <a:ext cx="3768923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Scripting Multiplies Effectiveness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658336" y="5396507"/>
            <a:ext cx="5751553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Writing a brute-force log detector and port scanner transformed abstract Bash knowledge into real security tooling — automation turns a manual analyst into a force multiplier.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13BF27-EC23-4FD8-D02F-0CC8BE1BD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8004" y="-131922"/>
            <a:ext cx="1393032" cy="1393032"/>
          </a:xfrm>
          <a:prstGeom prst="rect">
            <a:avLst/>
          </a:prstGeom>
        </p:spPr>
      </p:pic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0E2109A1-CC43-035F-1723-B5B6623AF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517" y="4476393"/>
            <a:ext cx="97670" cy="2079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493" y="306537"/>
            <a:ext cx="536352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Project: Honeypot System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21493" y="1253798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multi-service honeypot built to capture, log, and visualise real-world attack traffic in real time — featuring three concurrent services and a live threat-intelligence dashboard.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85642" y="2043658"/>
            <a:ext cx="6563082" cy="3520928"/>
          </a:xfrm>
          <a:prstGeom prst="roundRect">
            <a:avLst>
              <a:gd name="adj" fmla="val 559"/>
            </a:avLst>
          </a:prstGeom>
          <a:solidFill>
            <a:srgbClr val="5E98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74118" y="2222728"/>
            <a:ext cx="278070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SSH Honeypot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74118" y="2696478"/>
            <a:ext cx="6186130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Listens on port 2222, presents a realistic OpenSSH banner, and logs every credential pair attempted by attackers in real time.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74118" y="375815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HTTP Honeypot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4118" y="4231908"/>
            <a:ext cx="6186130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Serves convincing decoy pages (WordPress login, phpMyAdmin, admin panel, .env files) on port 8080 to lure and log probes.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80551" y="1873935"/>
            <a:ext cx="409517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Threat Dashboard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280552" y="2207954"/>
            <a:ext cx="6603788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Flask-powered real-time UI with attack stats, global origin map, hourly timeline, top attacker chart, and credential intelligence feed.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80552" y="3703569"/>
            <a:ext cx="420564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GeoIP Enrichment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315200" y="3984454"/>
            <a:ext cx="6603788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attacker IP is automatically resolved to country, city, and coordinates — enabling geographic threat visualisation on a live world map.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80552" y="5238999"/>
            <a:ext cx="406467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SQLite Event Logging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315200" y="5564586"/>
            <a:ext cx="6657261" cy="791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events persisted in a local structured database with full metadata — no external infrastructure required.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79D52-6876-9580-F617-26A4D5DB8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3954" y="-86201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493" y="306537"/>
            <a:ext cx="536352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21493" y="1253798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entirely in Python — three daemon threads launched from main.py, each handling a distinct attack surface with shared SQLite storage.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85642" y="2043658"/>
            <a:ext cx="6563082" cy="3520928"/>
          </a:xfrm>
          <a:prstGeom prst="roundRect">
            <a:avLst>
              <a:gd name="adj" fmla="val 559"/>
            </a:avLst>
          </a:prstGeom>
          <a:solidFill>
            <a:srgbClr val="5E98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74118" y="2222728"/>
            <a:ext cx="278070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&amp; Paramiko (SSH)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574118" y="2696478"/>
            <a:ext cx="6186130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SSH server emulated via paramiko — handles host-key negotiation, authentication callbacks, and per-session credential capture.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74118" y="375815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Flask (HTTP Honeypot + Dashboard)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4118" y="4231908"/>
            <a:ext cx="6186130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separate Flask apps: one simulates decoy web endpoints; the other exposes a REST API consumed by the live dashboard frontend.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80551" y="1873935"/>
            <a:ext cx="409517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Frontend (JS)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280552" y="2207954"/>
            <a:ext cx="6603788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built with Chart.js for live charts and Leaflet.js for the attack-origin world map — auto-polling the API every 5 seconds.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80552" y="3703569"/>
            <a:ext cx="420564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Skills Demonstrated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315200" y="3984454"/>
            <a:ext cx="6603788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Socket programming, multi-threading, REST API design, GeoIP enrichment, SQLite, and full-stack web development — all in one project.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80552" y="5238999"/>
            <a:ext cx="406467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 Concept Applied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315200" y="5564586"/>
            <a:ext cx="6657261" cy="791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Deception-based detection: honeypots lure attackers and silently collect intelligence without exposing any real production infrastructure.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275E4D-B71E-A3F0-61C6-8F43AF34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3954" y="-86201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030" y="263723"/>
            <a:ext cx="6267786" cy="609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Future Plans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428030" y="1280637"/>
            <a:ext cx="13252735" cy="93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of this internship with Pragyan EduSec LLP marks a decisive transition — from foundational knowledge to real-world execution. The culmination of this phase is a fully functional, deployable cybersecurity project and a completed wargame curriculum across both Bandit and Natas.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28030" y="2654855"/>
            <a:ext cx="3750340" cy="30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Phase 2 Delivered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443" y="3198017"/>
            <a:ext cx="302447" cy="3024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2872" y="3188255"/>
            <a:ext cx="6412356" cy="62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project delivery: the Honeypot System — a production-quality Python tool capturing live attack traffic with SSH + HTTP decoys, GeoIP enrichment, and a real-time dashboard.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443" y="4229932"/>
            <a:ext cx="302447" cy="3024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2872" y="4220171"/>
            <a:ext cx="6412356" cy="93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wargame mastery: all 35 Bandit levels + Natas levels 0-5, covering privilege escalation, shell escapes, Git forensics, and OWASP Top 10 web vulnerabilities.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443" y="5579386"/>
            <a:ext cx="302447" cy="3024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2872" y="5569624"/>
            <a:ext cx="6412356" cy="62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practical skills: WPA2 WiFi penetration testing, Bash security scripting, all Cisco Ethical Hacker modules, and hands-on web exploitation — each validated in live or authorized lab environments.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7732514" y="2456498"/>
            <a:ext cx="5983486" cy="4199692"/>
          </a:xfrm>
          <a:prstGeom prst="roundRect">
            <a:avLst>
              <a:gd name="adj" fmla="val 697"/>
            </a:avLst>
          </a:prstGeom>
          <a:solidFill>
            <a:srgbClr val="5E98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7"/>
          <p:cNvSpPr/>
          <p:nvPr/>
        </p:nvSpPr>
        <p:spPr>
          <a:xfrm>
            <a:off x="7930872" y="2654855"/>
            <a:ext cx="2520833" cy="30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Career Track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7930871" y="3163371"/>
            <a:ext cx="5580385" cy="31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path forward is purposefully structured: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930871" y="3659505"/>
            <a:ext cx="5580385" cy="2947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Pursue eJPT then CEH then OSCP certifications to formalize and validate offensive security expertise.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 Natas (6+), TryHackMe rooms, and HackTheBox machines for independent CTF practice.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cloud security (AWS/Azure), digital forensics, and contribute to open-source security projects to build a professional portfolio.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889EBF-21C3-2026-4689-F2192A0CB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3954" y="-86201"/>
            <a:ext cx="1393032" cy="139303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45</TotalTime>
  <Words>1517</Words>
  <Application>Microsoft Office PowerPoint</Application>
  <PresentationFormat>Custom</PresentationFormat>
  <Paragraphs>112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</vt:lpstr>
      <vt:lpstr>Roboto Slab</vt:lpstr>
      <vt:lpstr>Impact</vt:lpstr>
      <vt:lpstr>Arial</vt:lpstr>
      <vt:lpstr>Main Event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Amogh Ukkadgatri</dc:creator>
  <cp:lastModifiedBy>Amogh Ukkadgatri</cp:lastModifiedBy>
  <cp:revision>10</cp:revision>
  <dcterms:created xsi:type="dcterms:W3CDTF">2026-04-12T07:59:01Z</dcterms:created>
  <dcterms:modified xsi:type="dcterms:W3CDTF">2026-05-05T05:17:51Z</dcterms:modified>
</cp:coreProperties>
</file>