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732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2" r:id="rId10"/>
  </p:sldIdLst>
  <p:sldSz cx="14630400" cy="8229600"/>
  <p:notesSz cx="8229600" cy="14630400"/>
  <p:embeddedFontLst>
    <p:embeddedFont>
      <p:font typeface="Impact" panose="020B0806030902050204" pitchFamily="34" charset="0"/>
      <p:regular r:id="rId12"/>
    </p:embeddedFont>
    <p:embeddedFont>
      <p:font typeface="Roboto" panose="02000000000000000000" pitchFamily="2" charset="0"/>
      <p:regular r:id="rId13"/>
      <p:bold r:id="rId14"/>
    </p:embeddedFont>
    <p:embeddedFont>
      <p:font typeface="Roboto Slab" pitchFamily="2" charset="0"/>
      <p:regular r:id="rId1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57B8"/>
    <a:srgbClr val="FBFC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1" d="100"/>
          <a:sy n="71" d="100"/>
        </p:scale>
        <p:origin x="56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962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 useBgFill="1">
        <p:nvSpPr>
          <p:cNvPr id="12" name="Freeform 11"/>
          <p:cNvSpPr/>
          <p:nvPr/>
        </p:nvSpPr>
        <p:spPr>
          <a:xfrm>
            <a:off x="-19050" y="1"/>
            <a:ext cx="14020572" cy="7905750"/>
          </a:xfrm>
          <a:custGeom>
            <a:avLst/>
            <a:gdLst/>
            <a:ahLst/>
            <a:cxnLst/>
            <a:rect l="l" t="t" r="r" b="b"/>
            <a:pathLst>
              <a:path w="11683810" h="6588125">
                <a:moveTo>
                  <a:pt x="0" y="0"/>
                </a:moveTo>
                <a:lnTo>
                  <a:pt x="11318691" y="0"/>
                </a:lnTo>
                <a:lnTo>
                  <a:pt x="11683810" y="5976938"/>
                </a:lnTo>
                <a:lnTo>
                  <a:pt x="15875" y="6588125"/>
                </a:lnTo>
                <a:cubicBezTo>
                  <a:pt x="10583" y="4386792"/>
                  <a:pt x="5292" y="2185458"/>
                  <a:pt x="0" y="0"/>
                </a:cubicBezTo>
                <a:close/>
              </a:path>
            </a:pathLst>
          </a:custGeom>
          <a:ln>
            <a:noFill/>
          </a:ln>
          <a:effectLst>
            <a:outerShdw blurRad="101600" dist="152400" dir="438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13"/>
          <p:cNvSpPr/>
          <p:nvPr/>
        </p:nvSpPr>
        <p:spPr>
          <a:xfrm>
            <a:off x="1" y="5138709"/>
            <a:ext cx="13595108" cy="2434614"/>
          </a:xfrm>
          <a:custGeom>
            <a:avLst/>
            <a:gdLst/>
            <a:ahLst/>
            <a:cxnLst/>
            <a:rect l="l" t="t" r="r" b="b"/>
            <a:pathLst>
              <a:path w="11329257" h="2028845">
                <a:moveTo>
                  <a:pt x="0" y="588520"/>
                </a:moveTo>
                <a:lnTo>
                  <a:pt x="11244075" y="0"/>
                </a:lnTo>
                <a:lnTo>
                  <a:pt x="11329257" y="1424838"/>
                </a:lnTo>
                <a:lnTo>
                  <a:pt x="0" y="2028845"/>
                </a:lnTo>
                <a:lnTo>
                  <a:pt x="0" y="58852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6" name="Freeform 25"/>
          <p:cNvSpPr/>
          <p:nvPr/>
        </p:nvSpPr>
        <p:spPr>
          <a:xfrm>
            <a:off x="1" y="1"/>
            <a:ext cx="10463495" cy="548252"/>
          </a:xfrm>
          <a:custGeom>
            <a:avLst/>
            <a:gdLst/>
            <a:ahLst/>
            <a:cxnLst/>
            <a:rect l="l" t="t" r="r" b="b"/>
            <a:pathLst>
              <a:path w="8719579" h="456877">
                <a:moveTo>
                  <a:pt x="0" y="0"/>
                </a:moveTo>
                <a:lnTo>
                  <a:pt x="8719579" y="0"/>
                </a:lnTo>
                <a:lnTo>
                  <a:pt x="0" y="456877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Freeform 14"/>
          <p:cNvSpPr/>
          <p:nvPr/>
        </p:nvSpPr>
        <p:spPr>
          <a:xfrm rot="21420000">
            <a:off x="-194160" y="351980"/>
            <a:ext cx="13640539" cy="6902165"/>
          </a:xfrm>
          <a:custGeom>
            <a:avLst/>
            <a:gdLst/>
            <a:ahLst/>
            <a:cxnLst/>
            <a:rect l="l" t="t" r="r" b="b"/>
            <a:pathLst>
              <a:path w="11367116" h="5751804">
                <a:moveTo>
                  <a:pt x="11346705" y="0"/>
                </a:moveTo>
                <a:cubicBezTo>
                  <a:pt x="11353509" y="1915114"/>
                  <a:pt x="11360312" y="3830229"/>
                  <a:pt x="11367116" y="5745343"/>
                </a:cubicBezTo>
                <a:lnTo>
                  <a:pt x="0" y="5751804"/>
                </a:lnTo>
              </a:path>
            </a:pathLst>
          </a:cu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 rot="21420000">
            <a:off x="1069442" y="795187"/>
            <a:ext cx="11706224" cy="3319834"/>
          </a:xfrm>
        </p:spPr>
        <p:txBody>
          <a:bodyPr anchor="b">
            <a:normAutofit/>
          </a:bodyPr>
          <a:lstStyle>
            <a:lvl1pPr algn="r">
              <a:defRPr sz="9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 rot="21420000">
            <a:off x="1179675" y="4206251"/>
            <a:ext cx="11706224" cy="660400"/>
          </a:xfrm>
        </p:spPr>
        <p:txBody>
          <a:bodyPr anchor="t">
            <a:noAutofit/>
          </a:bodyPr>
          <a:lstStyle>
            <a:lvl1pPr marL="0" indent="0" algn="r">
              <a:buNone/>
              <a:defRPr sz="3360">
                <a:solidFill>
                  <a:schemeClr val="bg1">
                    <a:lumMod val="50000"/>
                  </a:schemeClr>
                </a:solidFill>
              </a:defRPr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21420000">
            <a:off x="5938250" y="5494156"/>
            <a:ext cx="7372384" cy="1395734"/>
          </a:xfrm>
        </p:spPr>
        <p:txBody>
          <a:bodyPr/>
          <a:lstStyle>
            <a:lvl1pPr algn="ctr">
              <a:defRPr sz="648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21420000">
            <a:off x="-6672" y="5859629"/>
            <a:ext cx="4856687" cy="1434646"/>
          </a:xfrm>
        </p:spPr>
        <p:txBody>
          <a:bodyPr vert="horz" lIns="91440" tIns="45720" rIns="91440" bIns="45720" rtlCol="0" anchor="ctr"/>
          <a:lstStyle>
            <a:lvl1pPr algn="r">
              <a:defRPr lang="en-US" sz="6480" dirty="0"/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21420000">
            <a:off x="11822110" y="4599178"/>
            <a:ext cx="1088623" cy="598164"/>
          </a:xfrm>
        </p:spPr>
        <p:txBody>
          <a:bodyPr/>
          <a:lstStyle>
            <a:lvl1pPr>
              <a:defRPr sz="288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5" name="5-Point Star 24"/>
          <p:cNvSpPr/>
          <p:nvPr/>
        </p:nvSpPr>
        <p:spPr>
          <a:xfrm rot="21420000">
            <a:off x="5065662" y="6133627"/>
            <a:ext cx="618463" cy="618463"/>
          </a:xfrm>
          <a:prstGeom prst="star5">
            <a:avLst>
              <a:gd name="adj" fmla="val 26693"/>
              <a:gd name="hf" fmla="val 105146"/>
              <a:gd name="vf" fmla="val 110557"/>
            </a:avLst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7574348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822961" y="2476076"/>
            <a:ext cx="12473648" cy="39734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7222744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2" y="822961"/>
            <a:ext cx="12473648" cy="3832184"/>
          </a:xfrm>
        </p:spPr>
        <p:txBody>
          <a:bodyPr anchor="b">
            <a:normAutofit/>
          </a:bodyPr>
          <a:lstStyle>
            <a:lvl1pPr algn="l">
              <a:defRPr sz="6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2" y="4490720"/>
            <a:ext cx="12473648" cy="1967537"/>
          </a:xfrm>
        </p:spPr>
        <p:txBody>
          <a:bodyPr anchor="t">
            <a:normAutofit/>
          </a:bodyPr>
          <a:lstStyle>
            <a:lvl1pPr marL="0" indent="0" algn="l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54864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143203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822961" y="822960"/>
            <a:ext cx="12476258" cy="13897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822960" y="2476076"/>
            <a:ext cx="6106457" cy="3973427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7192765" y="2476076"/>
            <a:ext cx="6103846" cy="3973427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1556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822962" y="822960"/>
            <a:ext cx="12473648" cy="138976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2027" y="2476075"/>
            <a:ext cx="5827390" cy="815993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3120" b="0">
                <a:solidFill>
                  <a:schemeClr val="accent1"/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822963" y="3434080"/>
            <a:ext cx="6106454" cy="3015422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61830" y="2476075"/>
            <a:ext cx="5837389" cy="815993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3120" b="0">
                <a:solidFill>
                  <a:schemeClr val="accent1"/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7192763" y="3434080"/>
            <a:ext cx="6106456" cy="3015422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9683458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657500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349450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2372" y="822960"/>
            <a:ext cx="4952232" cy="2427902"/>
          </a:xfrm>
        </p:spPr>
        <p:txBody>
          <a:bodyPr anchor="b">
            <a:normAutofit/>
          </a:bodyPr>
          <a:lstStyle>
            <a:lvl1pPr algn="ctr">
              <a:defRPr sz="43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6055359" y="822961"/>
            <a:ext cx="7241250" cy="562654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2371" y="3250863"/>
            <a:ext cx="4952233" cy="3198640"/>
          </a:xfrm>
        </p:spPr>
        <p:txBody>
          <a:bodyPr anchor="t">
            <a:normAutofit/>
          </a:bodyPr>
          <a:lstStyle>
            <a:lvl1pPr marL="0" indent="0" algn="ctr">
              <a:buNone/>
              <a:defRPr sz="216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894970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822960"/>
            <a:ext cx="7614362" cy="2427902"/>
          </a:xfrm>
        </p:spPr>
        <p:txBody>
          <a:bodyPr anchor="b">
            <a:normAutofit/>
          </a:bodyPr>
          <a:lstStyle>
            <a:lvl1pPr algn="ctr">
              <a:defRPr sz="43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978835" y="0"/>
            <a:ext cx="4317775" cy="6085840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62" y="3250863"/>
            <a:ext cx="7614361" cy="2834977"/>
          </a:xfrm>
        </p:spPr>
        <p:txBody>
          <a:bodyPr anchor="t">
            <a:normAutofit/>
          </a:bodyPr>
          <a:lstStyle>
            <a:lvl1pPr marL="0" indent="0" algn="ctr">
              <a:buNone/>
              <a:defRPr sz="216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72342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4927600"/>
            <a:ext cx="12473650" cy="706615"/>
          </a:xfrm>
        </p:spPr>
        <p:txBody>
          <a:bodyPr anchor="b"/>
          <a:lstStyle>
            <a:lvl1pPr>
              <a:defRPr sz="38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22962" y="822959"/>
            <a:ext cx="12471016" cy="3833884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36" y="5643508"/>
            <a:ext cx="12473674" cy="818966"/>
          </a:xfrm>
        </p:spPr>
        <p:txBody>
          <a:bodyPr anchor="t"/>
          <a:lstStyle>
            <a:lvl1pPr marL="0" indent="0" algn="l">
              <a:buNone/>
              <a:defRPr sz="192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828547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1" y="822960"/>
            <a:ext cx="12476282" cy="3833884"/>
          </a:xfrm>
        </p:spPr>
        <p:txBody>
          <a:bodyPr anchor="ctr">
            <a:normAutofit/>
          </a:bodyPr>
          <a:lstStyle>
            <a:lvl1pPr algn="ctr">
              <a:defRPr sz="57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35" y="4927600"/>
            <a:ext cx="12473675" cy="152832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16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2297289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6078" y="822960"/>
            <a:ext cx="11430024" cy="3500045"/>
          </a:xfrm>
        </p:spPr>
        <p:txBody>
          <a:bodyPr anchor="ctr">
            <a:normAutofit/>
          </a:bodyPr>
          <a:lstStyle>
            <a:lvl1pPr algn="ctr">
              <a:defRPr sz="57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860317" y="4332038"/>
            <a:ext cx="10401547" cy="453322"/>
          </a:xfrm>
        </p:spPr>
        <p:txBody>
          <a:bodyPr anchor="t">
            <a:normAutofit/>
          </a:bodyPr>
          <a:lstStyle>
            <a:lvl1pPr marL="0" indent="0" algn="r">
              <a:buNone/>
              <a:defRPr sz="168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61" y="4927601"/>
            <a:ext cx="12476258" cy="15219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16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822961" y="1071154"/>
            <a:ext cx="731520" cy="701731"/>
          </a:xfrm>
          <a:prstGeom prst="rect">
            <a:avLst/>
          </a:prstGeom>
        </p:spPr>
        <p:txBody>
          <a:bodyPr vert="horz" lIns="109728" tIns="54864" rIns="109728" bIns="54864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96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67700" y="3507393"/>
            <a:ext cx="731520" cy="701731"/>
          </a:xfrm>
          <a:prstGeom prst="rect">
            <a:avLst/>
          </a:prstGeom>
        </p:spPr>
        <p:txBody>
          <a:bodyPr vert="horz" lIns="109728" tIns="54864" rIns="109728" bIns="54864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96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79432354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1" y="2068625"/>
            <a:ext cx="12473648" cy="3014202"/>
          </a:xfrm>
        </p:spPr>
        <p:txBody>
          <a:bodyPr anchor="b">
            <a:normAutofit/>
          </a:bodyPr>
          <a:lstStyle>
            <a:lvl1pPr algn="l">
              <a:defRPr sz="57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61" y="5096962"/>
            <a:ext cx="12473648" cy="1368773"/>
          </a:xfrm>
        </p:spPr>
        <p:txBody>
          <a:bodyPr anchor="t">
            <a:normAutofit/>
          </a:bodyPr>
          <a:lstStyle>
            <a:lvl1pPr marL="0" indent="0" algn="l">
              <a:buNone/>
              <a:defRPr sz="2160"/>
            </a:lvl1pPr>
            <a:lvl2pPr marL="548640" indent="0">
              <a:buNone/>
              <a:defRPr sz="1680"/>
            </a:lvl2pPr>
            <a:lvl3pPr marL="1097280" indent="0">
              <a:buNone/>
              <a:defRPr sz="1440"/>
            </a:lvl3pPr>
            <a:lvl4pPr marL="1645920" indent="0">
              <a:buNone/>
              <a:defRPr sz="1200"/>
            </a:lvl4pPr>
            <a:lvl5pPr marL="2194560" indent="0">
              <a:buNone/>
              <a:defRPr sz="1200"/>
            </a:lvl5pPr>
            <a:lvl6pPr marL="2743200" indent="0">
              <a:buNone/>
              <a:defRPr sz="1200"/>
            </a:lvl6pPr>
            <a:lvl7pPr marL="3291840" indent="0">
              <a:buNone/>
              <a:defRPr sz="1200"/>
            </a:lvl7pPr>
            <a:lvl8pPr marL="3840480" indent="0">
              <a:buNone/>
              <a:defRPr sz="1200"/>
            </a:lvl8pPr>
            <a:lvl9pPr marL="4389120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0272838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22963" y="822961"/>
            <a:ext cx="12473647" cy="1382358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822962" y="2476074"/>
            <a:ext cx="3972154" cy="691514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880" b="0">
                <a:solidFill>
                  <a:schemeClr val="accent1"/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822962" y="3167589"/>
            <a:ext cx="3972154" cy="3281914"/>
          </a:xfrm>
        </p:spPr>
        <p:txBody>
          <a:bodyPr anchor="t">
            <a:normAutofit/>
          </a:bodyPr>
          <a:lstStyle>
            <a:lvl1pPr marL="0" indent="0" algn="ctr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1546" y="2476074"/>
            <a:ext cx="3972154" cy="691514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880" b="0">
                <a:solidFill>
                  <a:schemeClr val="accent1"/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5081545" y="3167589"/>
            <a:ext cx="3972154" cy="3281914"/>
          </a:xfrm>
        </p:spPr>
        <p:txBody>
          <a:bodyPr anchor="t">
            <a:normAutofit/>
          </a:bodyPr>
          <a:lstStyle>
            <a:lvl1pPr marL="0" indent="0" algn="ctr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9324456" y="2476074"/>
            <a:ext cx="3972154" cy="691514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880" b="0">
                <a:solidFill>
                  <a:schemeClr val="accent1"/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9324456" y="3167589"/>
            <a:ext cx="3972154" cy="3281914"/>
          </a:xfrm>
        </p:spPr>
        <p:txBody>
          <a:bodyPr anchor="t">
            <a:normAutofit/>
          </a:bodyPr>
          <a:lstStyle>
            <a:lvl1pPr marL="0" indent="0" algn="ctr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157939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22961" y="822961"/>
            <a:ext cx="12476258" cy="1382358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830208" y="4575630"/>
            <a:ext cx="3972154" cy="691514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640" b="0">
                <a:solidFill>
                  <a:schemeClr val="accent1"/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22936" y="2476075"/>
            <a:ext cx="3972154" cy="1844070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920"/>
            </a:lvl1pPr>
            <a:lvl2pPr marL="548640" indent="0">
              <a:buNone/>
              <a:defRPr sz="1920"/>
            </a:lvl2pPr>
            <a:lvl3pPr marL="1097280" indent="0">
              <a:buNone/>
              <a:defRPr sz="1920"/>
            </a:lvl3pPr>
            <a:lvl4pPr marL="1645920" indent="0">
              <a:buNone/>
              <a:defRPr sz="1920"/>
            </a:lvl4pPr>
            <a:lvl5pPr marL="2194560" indent="0">
              <a:buNone/>
              <a:defRPr sz="1920"/>
            </a:lvl5pPr>
            <a:lvl6pPr marL="2743200" indent="0">
              <a:buNone/>
              <a:defRPr sz="1920"/>
            </a:lvl6pPr>
            <a:lvl7pPr marL="3291840" indent="0">
              <a:buNone/>
              <a:defRPr sz="1920"/>
            </a:lvl7pPr>
            <a:lvl8pPr marL="3840480" indent="0">
              <a:buNone/>
              <a:defRPr sz="1920"/>
            </a:lvl8pPr>
            <a:lvl9pPr marL="4389120" indent="0">
              <a:buNone/>
              <a:defRPr sz="19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830208" y="5267145"/>
            <a:ext cx="3972154" cy="1182359"/>
          </a:xfrm>
        </p:spPr>
        <p:txBody>
          <a:bodyPr anchor="t">
            <a:normAutofit/>
          </a:bodyPr>
          <a:lstStyle>
            <a:lvl1pPr marL="0" indent="0" algn="ctr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4892" y="4575630"/>
            <a:ext cx="3972154" cy="691514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640" b="0">
                <a:solidFill>
                  <a:schemeClr val="accent1"/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5083199" y="2476075"/>
            <a:ext cx="3972154" cy="1842284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920"/>
            </a:lvl1pPr>
            <a:lvl2pPr marL="548640" indent="0">
              <a:buNone/>
              <a:defRPr sz="1920"/>
            </a:lvl2pPr>
            <a:lvl3pPr marL="1097280" indent="0">
              <a:buNone/>
              <a:defRPr sz="1920"/>
            </a:lvl3pPr>
            <a:lvl4pPr marL="1645920" indent="0">
              <a:buNone/>
              <a:defRPr sz="1920"/>
            </a:lvl4pPr>
            <a:lvl5pPr marL="2194560" indent="0">
              <a:buNone/>
              <a:defRPr sz="1920"/>
            </a:lvl5pPr>
            <a:lvl6pPr marL="2743200" indent="0">
              <a:buNone/>
              <a:defRPr sz="1920"/>
            </a:lvl6pPr>
            <a:lvl7pPr marL="3291840" indent="0">
              <a:buNone/>
              <a:defRPr sz="1920"/>
            </a:lvl7pPr>
            <a:lvl8pPr marL="3840480" indent="0">
              <a:buNone/>
              <a:defRPr sz="1920"/>
            </a:lvl8pPr>
            <a:lvl9pPr marL="4389120" indent="0">
              <a:buNone/>
              <a:defRPr sz="19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5083199" y="5267143"/>
            <a:ext cx="3972154" cy="1182360"/>
          </a:xfrm>
        </p:spPr>
        <p:txBody>
          <a:bodyPr anchor="t">
            <a:normAutofit/>
          </a:bodyPr>
          <a:lstStyle>
            <a:lvl1pPr marL="0" indent="0" algn="ctr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9322733" y="4575630"/>
            <a:ext cx="3972154" cy="691514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640" b="0">
                <a:solidFill>
                  <a:schemeClr val="accent1"/>
                </a:solidFill>
              </a:defRPr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9322583" y="2476073"/>
            <a:ext cx="3972154" cy="1844635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920"/>
            </a:lvl1pPr>
            <a:lvl2pPr marL="548640" indent="0">
              <a:buNone/>
              <a:defRPr sz="1920"/>
            </a:lvl2pPr>
            <a:lvl3pPr marL="1097280" indent="0">
              <a:buNone/>
              <a:defRPr sz="1920"/>
            </a:lvl3pPr>
            <a:lvl4pPr marL="1645920" indent="0">
              <a:buNone/>
              <a:defRPr sz="1920"/>
            </a:lvl4pPr>
            <a:lvl5pPr marL="2194560" indent="0">
              <a:buNone/>
              <a:defRPr sz="1920"/>
            </a:lvl5pPr>
            <a:lvl6pPr marL="2743200" indent="0">
              <a:buNone/>
              <a:defRPr sz="1920"/>
            </a:lvl6pPr>
            <a:lvl7pPr marL="3291840" indent="0">
              <a:buNone/>
              <a:defRPr sz="1920"/>
            </a:lvl7pPr>
            <a:lvl8pPr marL="3840480" indent="0">
              <a:buNone/>
              <a:defRPr sz="1920"/>
            </a:lvl8pPr>
            <a:lvl9pPr marL="4389120" indent="0">
              <a:buNone/>
              <a:defRPr sz="192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9322583" y="5267141"/>
            <a:ext cx="3972154" cy="1182362"/>
          </a:xfrm>
        </p:spPr>
        <p:txBody>
          <a:bodyPr anchor="t">
            <a:normAutofit/>
          </a:bodyPr>
          <a:lstStyle>
            <a:lvl1pPr marL="0" indent="0" algn="ctr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0475030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822961" y="2476075"/>
            <a:ext cx="12473648" cy="3973428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21057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579035" y="822961"/>
            <a:ext cx="2717575" cy="5626542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822961" y="822961"/>
            <a:ext cx="9485317" cy="5626542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9786887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681112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46667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937056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16869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79273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1627664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21415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3.jp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-30476" y="1"/>
            <a:ext cx="14406420" cy="7972897"/>
            <a:chOff x="-25397" y="0"/>
            <a:chExt cx="12005350" cy="6644081"/>
          </a:xfrm>
        </p:grpSpPr>
        <p:sp useBgFill="1">
          <p:nvSpPr>
            <p:cNvPr id="11" name="Rectangle 10"/>
            <p:cNvSpPr/>
            <p:nvPr/>
          </p:nvSpPr>
          <p:spPr>
            <a:xfrm>
              <a:off x="1" y="0"/>
              <a:ext cx="11979952" cy="6644081"/>
            </a:xfrm>
            <a:prstGeom prst="rect">
              <a:avLst/>
            </a:prstGeom>
            <a:ln>
              <a:noFill/>
            </a:ln>
            <a:effectLst>
              <a:outerShdw blurRad="98425" dist="76200" dir="4380000" algn="tl" rotWithShape="0">
                <a:srgbClr val="000000">
                  <a:alpha val="6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-25397" y="0"/>
              <a:ext cx="11773291" cy="6419514"/>
            </a:xfrm>
            <a:custGeom>
              <a:avLst/>
              <a:gdLst/>
              <a:ahLst/>
              <a:cxnLst/>
              <a:rect l="l" t="t" r="r" b="b"/>
              <a:pathLst>
                <a:path w="11773291" h="6419514">
                  <a:moveTo>
                    <a:pt x="11750059" y="0"/>
                  </a:moveTo>
                  <a:lnTo>
                    <a:pt x="11773291" y="6419514"/>
                  </a:lnTo>
                  <a:lnTo>
                    <a:pt x="0" y="6411047"/>
                  </a:lnTo>
                </a:path>
              </a:pathLst>
            </a:custGeom>
            <a:ln w="82550">
              <a:solidFill>
                <a:schemeClr val="tx1">
                  <a:lumMod val="50000"/>
                  <a:lumOff val="50000"/>
                </a:schemeClr>
              </a:solidFill>
              <a:miter lim="800000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sp>
        <p:sp>
          <p:nvSpPr>
            <p:cNvPr id="13" name="Rectangle 12"/>
            <p:cNvSpPr/>
            <p:nvPr/>
          </p:nvSpPr>
          <p:spPr>
            <a:xfrm>
              <a:off x="1" y="5600215"/>
              <a:ext cx="11706512" cy="780581"/>
            </a:xfrm>
            <a:prstGeom prst="rect">
              <a:avLst/>
            </a:prstGeom>
            <a:gradFill flip="none" rotWithShape="1">
              <a:gsLst>
                <a:gs pos="34000">
                  <a:schemeClr val="accent1"/>
                </a:gs>
                <a:gs pos="100000">
                  <a:schemeClr val="accent1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1" y="822961"/>
            <a:ext cx="12476258" cy="13823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2476076"/>
            <a:ext cx="12476260" cy="39734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757700" y="6908801"/>
            <a:ext cx="4541520" cy="598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84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smtClean="0"/>
              <a:t>5/17/2026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22962" y="6908801"/>
            <a:ext cx="6599663" cy="598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84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44545" y="6908801"/>
            <a:ext cx="1088623" cy="59816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84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26453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  <p:sldLayoutId id="2147483744" r:id="rId12"/>
    <p:sldLayoutId id="2147483745" r:id="rId13"/>
    <p:sldLayoutId id="2147483746" r:id="rId14"/>
    <p:sldLayoutId id="2147483747" r:id="rId15"/>
    <p:sldLayoutId id="2147483748" r:id="rId16"/>
    <p:sldLayoutId id="2147483749" r:id="rId17"/>
    <p:sldLayoutId id="2147483750" r:id="rId18"/>
    <p:sldLayoutId id="2147483751" r:id="rId19"/>
    <p:sldLayoutId id="2147483752" r:id="rId20"/>
    <p:sldLayoutId id="2147483753" r:id="rId21"/>
    <p:sldLayoutId id="2147483754" r:id="rId22"/>
    <p:sldLayoutId id="2147483755" r:id="rId23"/>
    <p:sldLayoutId id="2147483756" r:id="rId24"/>
  </p:sldLayoutIdLst>
  <p:hf sldNum="0" hdr="0" ftr="0" dt="0"/>
  <p:txStyles>
    <p:titleStyle>
      <a:lvl1pPr algn="l" defTabSz="1097280" rtl="0" eaLnBrk="1" latinLnBrk="0" hangingPunct="1">
        <a:lnSpc>
          <a:spcPct val="90000"/>
        </a:lnSpc>
        <a:spcBef>
          <a:spcPct val="0"/>
        </a:spcBef>
        <a:buNone/>
        <a:defRPr sz="6480" kern="1200" cap="all" baseline="0">
          <a:solidFill>
            <a:schemeClr val="accent1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defTabSz="1097280" rtl="0" eaLnBrk="1" latinLnBrk="0" hangingPunct="1">
        <a:lnSpc>
          <a:spcPct val="120000"/>
        </a:lnSpc>
        <a:spcBef>
          <a:spcPts val="12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2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82296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216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37160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92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92024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68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46888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68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301752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68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356616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68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411480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68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4663440" indent="-274320" algn="l" defTabSz="109728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68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109728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svg"/><Relationship Id="rId9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2.xml"/><Relationship Id="rId6" Type="http://schemas.openxmlformats.org/officeDocument/2006/relationships/image" Target="../media/image17.svg"/><Relationship Id="rId11" Type="http://schemas.openxmlformats.org/officeDocument/2006/relationships/image" Target="../media/image5.png"/><Relationship Id="rId5" Type="http://schemas.openxmlformats.org/officeDocument/2006/relationships/image" Target="../media/image16.png"/><Relationship Id="rId10" Type="http://schemas.openxmlformats.org/officeDocument/2006/relationships/image" Target="../media/image21.svg"/><Relationship Id="rId4" Type="http://schemas.openxmlformats.org/officeDocument/2006/relationships/image" Target="../media/image15.svg"/><Relationship Id="rId9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5.png"/><Relationship Id="rId4" Type="http://schemas.openxmlformats.org/officeDocument/2006/relationships/image" Target="../media/image2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1601748"/>
            <a:ext cx="1886545" cy="373142"/>
          </a:xfrm>
          <a:prstGeom prst="roundRect">
            <a:avLst>
              <a:gd name="adj" fmla="val 6383"/>
            </a:avLst>
          </a:prstGeom>
          <a:solidFill>
            <a:srgbClr val="D7DFF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912852" y="1661279"/>
            <a:ext cx="1648420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PRAGYAN EDUSEC LLP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93790" y="2054185"/>
            <a:ext cx="5835968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Cybersecurity </a:t>
            </a:r>
            <a:r>
              <a:rPr lang="en-US" sz="390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Internship —Review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793790" y="2971919"/>
            <a:ext cx="13042821" cy="3175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Pragyan EduSec LLP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93790" y="3562231"/>
            <a:ext cx="13042821" cy="14883"/>
          </a:xfrm>
          <a:prstGeom prst="rect">
            <a:avLst/>
          </a:prstGeom>
          <a:solidFill>
            <a:srgbClr val="15213F">
              <a:alpha val="5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854679" y="3857502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Student Name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793790" y="4397990"/>
            <a:ext cx="2143048" cy="369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AMOGH P UKKADGATRI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9211946" y="3855153"/>
            <a:ext cx="1886545" cy="340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Guide/Mentor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252701" y="4314316"/>
            <a:ext cx="1805037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AMAAN MUCHALE</a:t>
            </a:r>
            <a:endParaRPr lang="en-US" sz="155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48" y="5576381"/>
            <a:ext cx="310039" cy="248007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350321" y="5545306"/>
            <a:ext cx="2480905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Company</a:t>
            </a:r>
          </a:p>
        </p:txBody>
      </p:sp>
      <p:sp>
        <p:nvSpPr>
          <p:cNvPr id="14" name="Text 11"/>
          <p:cNvSpPr/>
          <p:nvPr/>
        </p:nvSpPr>
        <p:spPr>
          <a:xfrm>
            <a:off x="1350321" y="5917971"/>
            <a:ext cx="2446071" cy="3101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Pragyan </a:t>
            </a:r>
            <a:r>
              <a:rPr lang="en-US" sz="1950" dirty="0" err="1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EduSec</a:t>
            </a: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LLP</a:t>
            </a:r>
            <a:endParaRPr lang="en-US" sz="1550" dirty="0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C66666C-46FF-3A0C-82F6-F8DF34641D09}"/>
              </a:ext>
            </a:extLst>
          </p:cNvPr>
          <p:cNvSpPr/>
          <p:nvPr/>
        </p:nvSpPr>
        <p:spPr>
          <a:xfrm>
            <a:off x="12868275" y="7767638"/>
            <a:ext cx="1709738" cy="371475"/>
          </a:xfrm>
          <a:prstGeom prst="rect">
            <a:avLst/>
          </a:prstGeom>
          <a:solidFill>
            <a:srgbClr val="FBFCFE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1A0EF02-C194-D6AF-7569-27DC8B3DB8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6567" y="5395839"/>
            <a:ext cx="1250442" cy="1250442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14B4188-5F9E-CC22-4A65-5D340FF5B67B}"/>
              </a:ext>
            </a:extLst>
          </p:cNvPr>
          <p:cNvSpPr txBox="1"/>
          <p:nvPr/>
        </p:nvSpPr>
        <p:spPr>
          <a:xfrm>
            <a:off x="3981450" y="3818490"/>
            <a:ext cx="832619" cy="388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USN</a:t>
            </a:r>
            <a:endParaRPr lang="en-US" sz="1950" dirty="0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C35921A7-66CD-1B01-5D6A-F22C7418CFA4}"/>
              </a:ext>
            </a:extLst>
          </p:cNvPr>
          <p:cNvSpPr/>
          <p:nvPr/>
        </p:nvSpPr>
        <p:spPr>
          <a:xfrm>
            <a:off x="3796392" y="4355638"/>
            <a:ext cx="1202734" cy="369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2KE22EC008</a:t>
            </a:r>
            <a:endParaRPr lang="en-US" sz="1550" dirty="0"/>
          </a:p>
        </p:txBody>
      </p:sp>
      <p:sp>
        <p:nvSpPr>
          <p:cNvPr id="16" name="Text 0">
            <a:extLst>
              <a:ext uri="{FF2B5EF4-FFF2-40B4-BE49-F238E27FC236}">
                <a16:creationId xmlns:a16="http://schemas.microsoft.com/office/drawing/2014/main" id="{53D3824B-4F21-D487-D1E8-D9381FB75CE3}"/>
              </a:ext>
            </a:extLst>
          </p:cNvPr>
          <p:cNvSpPr/>
          <p:nvPr/>
        </p:nvSpPr>
        <p:spPr>
          <a:xfrm>
            <a:off x="1338611" y="171710"/>
            <a:ext cx="11953177" cy="11463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400"/>
              </a:lnSpc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K.L.E Society's</a:t>
            </a:r>
          </a:p>
          <a:p>
            <a:pPr algn="ctr">
              <a:lnSpc>
                <a:spcPts val="2400"/>
              </a:lnSpc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K.L.E. INSTITUTE OF TECHNOLOGY, HUBBALLI-27 </a:t>
            </a:r>
          </a:p>
          <a:p>
            <a:pPr algn="ctr">
              <a:lnSpc>
                <a:spcPts val="2400"/>
              </a:lnSpc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(Approved by AICTE, New Delhi, Affiliated to V.T.U. Belgaum and ISO 21001 : 2018 Certified) </a:t>
            </a:r>
          </a:p>
          <a:p>
            <a:pPr algn="ctr">
              <a:lnSpc>
                <a:spcPts val="2400"/>
              </a:lnSpc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(ALL UG Programs Accredited by NBA)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299F8F5-5164-AE09-D1BB-5938EDA9B6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59238" y="-38097"/>
            <a:ext cx="1265099" cy="124341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8791C86C-74CC-9E66-D3D3-33D363A2BD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937" y="97547"/>
            <a:ext cx="1169187" cy="1169187"/>
          </a:xfrm>
          <a:prstGeom prst="rect">
            <a:avLst/>
          </a:prstGeom>
        </p:spPr>
      </p:pic>
      <p:sp>
        <p:nvSpPr>
          <p:cNvPr id="23" name="Text 0">
            <a:extLst>
              <a:ext uri="{FF2B5EF4-FFF2-40B4-BE49-F238E27FC236}">
                <a16:creationId xmlns:a16="http://schemas.microsoft.com/office/drawing/2014/main" id="{27BF36AC-20D9-D43B-A9DF-0BE44D2790EB}"/>
              </a:ext>
            </a:extLst>
          </p:cNvPr>
          <p:cNvSpPr/>
          <p:nvPr/>
        </p:nvSpPr>
        <p:spPr>
          <a:xfrm>
            <a:off x="6105800" y="3893284"/>
            <a:ext cx="2338953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Internship Domain</a:t>
            </a:r>
          </a:p>
        </p:txBody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38220113-9812-2C0A-F9B4-464B9C7C9B29}"/>
              </a:ext>
            </a:extLst>
          </p:cNvPr>
          <p:cNvSpPr/>
          <p:nvPr/>
        </p:nvSpPr>
        <p:spPr>
          <a:xfrm>
            <a:off x="6340661" y="4326046"/>
            <a:ext cx="1202734" cy="369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CYBERSECURITY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41969" y="287358"/>
            <a:ext cx="11416139" cy="12401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Company Profile – Pragyan EduSec LLP</a:t>
            </a:r>
            <a:endParaRPr lang="en-US" sz="3900" dirty="0"/>
          </a:p>
        </p:txBody>
      </p:sp>
      <p:sp>
        <p:nvSpPr>
          <p:cNvPr id="4" name="Text 1"/>
          <p:cNvSpPr/>
          <p:nvPr/>
        </p:nvSpPr>
        <p:spPr>
          <a:xfrm>
            <a:off x="75304" y="1425774"/>
            <a:ext cx="13716000" cy="1284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forward-thinking </a:t>
            </a: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EdTech &amp; Cybersecurity training organization</a:t>
            </a: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headquartered in Karnataka, India, Pragyan EduSec LLP is built on a singular mission: transforming academic learners into industry-ready professionals through rigorous, hands-on skill development programs.</a:t>
            </a:r>
            <a:endParaRPr lang="en-US" sz="1550" dirty="0"/>
          </a:p>
        </p:txBody>
      </p:sp>
      <p:sp>
        <p:nvSpPr>
          <p:cNvPr id="5" name="Shape 2"/>
          <p:cNvSpPr/>
          <p:nvPr/>
        </p:nvSpPr>
        <p:spPr>
          <a:xfrm>
            <a:off x="75304" y="2871177"/>
            <a:ext cx="6677974" cy="2119928"/>
          </a:xfrm>
          <a:prstGeom prst="roundRect">
            <a:avLst>
              <a:gd name="adj" fmla="val 1420"/>
            </a:avLst>
          </a:prstGeom>
          <a:solidFill>
            <a:srgbClr val="E9ECF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1649521" y="3025440"/>
            <a:ext cx="3339260" cy="268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Industry-Oriented Training</a:t>
            </a:r>
            <a:endParaRPr lang="en-US" sz="1950" dirty="0"/>
          </a:p>
        </p:txBody>
      </p:sp>
      <p:sp>
        <p:nvSpPr>
          <p:cNvPr id="7" name="Text 4"/>
          <p:cNvSpPr/>
          <p:nvPr/>
        </p:nvSpPr>
        <p:spPr>
          <a:xfrm>
            <a:off x="444671" y="3451629"/>
            <a:ext cx="6225070" cy="1284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Curriculum designed to reflect real-world tools, workflows, and threat landscapes — not just theoretical frameworks.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7237738" y="2871177"/>
            <a:ext cx="6677974" cy="2119928"/>
          </a:xfrm>
          <a:prstGeom prst="roundRect">
            <a:avLst>
              <a:gd name="adj" fmla="val 1420"/>
            </a:avLst>
          </a:prstGeom>
          <a:solidFill>
            <a:srgbClr val="E9ECF2"/>
          </a:solidFill>
          <a:ln/>
        </p:spPr>
      </p:sp>
      <p:sp>
        <p:nvSpPr>
          <p:cNvPr id="9" name="Text 6"/>
          <p:cNvSpPr/>
          <p:nvPr/>
        </p:nvSpPr>
        <p:spPr>
          <a:xfrm>
            <a:off x="9842571" y="3027626"/>
            <a:ext cx="4787829" cy="3136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Experiential Programs</a:t>
            </a:r>
            <a:endParaRPr lang="en-US" sz="1950" dirty="0"/>
          </a:p>
        </p:txBody>
      </p:sp>
      <p:sp>
        <p:nvSpPr>
          <p:cNvPr id="10" name="Text 7"/>
          <p:cNvSpPr/>
          <p:nvPr/>
        </p:nvSpPr>
        <p:spPr>
          <a:xfrm>
            <a:off x="7957834" y="3523907"/>
            <a:ext cx="5957878" cy="1284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internships, expert-led workshops, and access to digital lab platforms that simulate live environments.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75304" y="5213628"/>
            <a:ext cx="13716000" cy="1477628"/>
          </a:xfrm>
          <a:prstGeom prst="roundRect">
            <a:avLst>
              <a:gd name="adj" fmla="val 2038"/>
            </a:avLst>
          </a:prstGeom>
          <a:solidFill>
            <a:srgbClr val="E9ECF2"/>
          </a:solidFill>
          <a:ln/>
        </p:spPr>
      </p:sp>
      <p:sp>
        <p:nvSpPr>
          <p:cNvPr id="12" name="Text 9"/>
          <p:cNvSpPr/>
          <p:nvPr/>
        </p:nvSpPr>
        <p:spPr>
          <a:xfrm>
            <a:off x="444671" y="5458931"/>
            <a:ext cx="2874480" cy="22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9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Bridging the Skills Gap</a:t>
            </a:r>
            <a:endParaRPr lang="en-US" sz="1950" dirty="0"/>
          </a:p>
        </p:txBody>
      </p:sp>
      <p:sp>
        <p:nvSpPr>
          <p:cNvPr id="13" name="Text 10"/>
          <p:cNvSpPr/>
          <p:nvPr/>
        </p:nvSpPr>
        <p:spPr>
          <a:xfrm>
            <a:off x="444671" y="5841208"/>
            <a:ext cx="12995901" cy="642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Closes the critical divide between classroom knowledge and the practical competencies demanded by the cybersecurity and tech industries.</a:t>
            </a:r>
            <a:endParaRPr lang="en-US" sz="155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BA516C-ECDC-D796-ABAD-088522FA1BEF}"/>
              </a:ext>
            </a:extLst>
          </p:cNvPr>
          <p:cNvSpPr/>
          <p:nvPr/>
        </p:nvSpPr>
        <p:spPr>
          <a:xfrm>
            <a:off x="12868275" y="7767638"/>
            <a:ext cx="1709738" cy="371475"/>
          </a:xfrm>
          <a:prstGeom prst="rect">
            <a:avLst/>
          </a:prstGeom>
          <a:solidFill>
            <a:srgbClr val="FBFCFE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A415AC0-4C73-381A-DCEB-8BC743F8E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23728" y="-166337"/>
            <a:ext cx="1393032" cy="139303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31211" y="305157"/>
            <a:ext cx="4961811" cy="6200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Internship Domain</a:t>
            </a:r>
            <a:endParaRPr lang="en-US" sz="3900" dirty="0"/>
          </a:p>
        </p:txBody>
      </p:sp>
      <p:sp>
        <p:nvSpPr>
          <p:cNvPr id="3" name="Shape 1"/>
          <p:cNvSpPr/>
          <p:nvPr/>
        </p:nvSpPr>
        <p:spPr>
          <a:xfrm>
            <a:off x="331211" y="1322070"/>
            <a:ext cx="3218974" cy="373142"/>
          </a:xfrm>
          <a:prstGeom prst="roundRect">
            <a:avLst>
              <a:gd name="adj" fmla="val 6383"/>
            </a:avLst>
          </a:prstGeom>
          <a:solidFill>
            <a:srgbClr val="D7DFF4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0273" y="1429226"/>
            <a:ext cx="158710" cy="1587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8279" y="1381601"/>
            <a:ext cx="2742843" cy="254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2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CYBERSECURITY &amp; ETHICAL HACKING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331211" y="1918454"/>
            <a:ext cx="13042821" cy="952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 2 advances from foundational theory into advanced practical execution — covering offensive security tools, web application exploitation, real-world project development, and hands-on CTF-style challenges across professional-grade platforms.</a:t>
            </a:r>
            <a:endParaRPr lang="en-US" sz="15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211" y="3094315"/>
            <a:ext cx="676394" cy="67639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55612" y="3094315"/>
            <a:ext cx="2150269" cy="9304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Advanced Ethical Hacking &amp; Cisco NetAcad</a:t>
            </a:r>
            <a:endParaRPr lang="en-US" sz="1950" dirty="0"/>
          </a:p>
        </p:txBody>
      </p:sp>
      <p:sp>
        <p:nvSpPr>
          <p:cNvPr id="9" name="Text 5"/>
          <p:cNvSpPr/>
          <p:nvPr/>
        </p:nvSpPr>
        <p:spPr>
          <a:xfrm>
            <a:off x="1255612" y="4143851"/>
            <a:ext cx="2767748" cy="2024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Completed all Cisco Ethical Hacker modules — threat actor profiling, OSINT, Nmap scanning, Metasploit, and the Cyber Kill Chain framework.</a:t>
            </a:r>
            <a:endParaRPr lang="en-US" sz="15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3888" y="3094315"/>
            <a:ext cx="676394" cy="67639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578289" y="3094315"/>
            <a:ext cx="2150269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Web Application Security (OverTheWire Natas)</a:t>
            </a:r>
            <a:endParaRPr lang="en-US" sz="1950" dirty="0"/>
          </a:p>
        </p:txBody>
      </p:sp>
      <p:sp>
        <p:nvSpPr>
          <p:cNvPr id="12" name="Text 7"/>
          <p:cNvSpPr/>
          <p:nvPr/>
        </p:nvSpPr>
        <p:spPr>
          <a:xfrm>
            <a:off x="4578288" y="4253241"/>
            <a:ext cx="3322677" cy="2771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Explored OWASP Top 10 vulnerabilities hands-on through Natas — HTML source exposure, cookie manipulation, directory listing, robots.txt leakage, and Referer header forgery.</a:t>
            </a:r>
            <a:endParaRPr lang="en-US" sz="15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6565" y="3094315"/>
            <a:ext cx="676394" cy="67639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900966" y="3094315"/>
            <a:ext cx="2150269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WiFi Security &amp; Wireless Penetration Testing</a:t>
            </a:r>
            <a:endParaRPr lang="en-US" sz="1950" dirty="0"/>
          </a:p>
        </p:txBody>
      </p:sp>
      <p:sp>
        <p:nvSpPr>
          <p:cNvPr id="15" name="Text 9"/>
          <p:cNvSpPr/>
          <p:nvPr/>
        </p:nvSpPr>
        <p:spPr>
          <a:xfrm>
            <a:off x="7900965" y="4253241"/>
            <a:ext cx="3480625" cy="2463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Full WPA2 penetration test on an authorized lab AP using Airmon-ng — monitor mode, 4-way handshake capture, deauth frames, and passphrase cracking with rockyou in under 3 minutes.</a:t>
            </a:r>
            <a:endParaRPr lang="en-US" sz="155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99242" y="3094315"/>
            <a:ext cx="676394" cy="67639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223644" y="3094315"/>
            <a:ext cx="2150388" cy="620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Real-World Project — Honeypot System</a:t>
            </a:r>
            <a:endParaRPr lang="en-US" sz="1950" dirty="0"/>
          </a:p>
        </p:txBody>
      </p:sp>
      <p:sp>
        <p:nvSpPr>
          <p:cNvPr id="18" name="Text 11"/>
          <p:cNvSpPr/>
          <p:nvPr/>
        </p:nvSpPr>
        <p:spPr>
          <a:xfrm>
            <a:off x="11223644" y="4128905"/>
            <a:ext cx="2804230" cy="2540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Designed and built a multi-service honeypot from scratch in Python — SSH + HTTP decoy services, GeoIP enrichment, SQLite logging, and a live cyberpunk threat-intelligence dashboard.</a:t>
            </a:r>
            <a:endParaRPr lang="en-US" sz="15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0FF8480-1607-44F0-05AC-D85E463A096C}"/>
              </a:ext>
            </a:extLst>
          </p:cNvPr>
          <p:cNvSpPr/>
          <p:nvPr/>
        </p:nvSpPr>
        <p:spPr>
          <a:xfrm>
            <a:off x="12868275" y="7767638"/>
            <a:ext cx="1709738" cy="371475"/>
          </a:xfrm>
          <a:prstGeom prst="rect">
            <a:avLst/>
          </a:prstGeom>
          <a:solidFill>
            <a:srgbClr val="FBFCFE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51231A4-CD82-8A9B-3B60-F0E63A73365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499644" y="-47625"/>
            <a:ext cx="1393032" cy="139303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493" y="306537"/>
            <a:ext cx="5363528" cy="5891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00"/>
              </a:lnSpc>
              <a:buNone/>
            </a:pPr>
            <a:r>
              <a:rPr lang="en-US" sz="37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Work Carried Out — Phase 2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521493" y="1253798"/>
            <a:ext cx="13042821" cy="588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 2 focused on advancing into practical offensive security, completing the full wargame curriculum, and delivering a production-quality real-world cybersecurity project.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385642" y="2043658"/>
            <a:ext cx="6563082" cy="3520928"/>
          </a:xfrm>
          <a:prstGeom prst="roundRect">
            <a:avLst>
              <a:gd name="adj" fmla="val 559"/>
            </a:avLst>
          </a:prstGeom>
          <a:solidFill>
            <a:srgbClr val="5E98F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74118" y="2222728"/>
            <a:ext cx="2780705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OverTheWire Natas — Web App Security (Levels 0–5)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574118" y="2696478"/>
            <a:ext cx="6186130" cy="882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Exploited real OWASP Top 10 vulnerabilities: HTML source leakage, JS restriction bypass via DevTools, directory listing, robots.txt disclosure, HTTP Referer header forgery using curl -H, and cookie-based authentication bypass – proving client-side data can never be trusted for authentication.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74118" y="3928704"/>
            <a:ext cx="2356842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Bash Security Scripting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574118" y="4231908"/>
            <a:ext cx="6186130" cy="117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Wrote a subnet port scanner using /dev/tcp and a real-time brute-force login detector that parses auth logs using tail -f and grep — turning manual monitoring into automated alerting.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80551" y="1873935"/>
            <a:ext cx="4095171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WiFi Security Lab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7280552" y="2207954"/>
            <a:ext cx="6603788" cy="117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Full WPA2 pen-test on an authorized lab AP — monitor mode, 4-way handshake capture, deauth frames, and password crack with rockyou in under 3 minutes. Also studied WPS Pixie Dust and Evil Twin attacks.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280552" y="3191422"/>
            <a:ext cx="4205648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Cisco Ethical Hacker — Modules 1–7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7315200" y="3472307"/>
            <a:ext cx="6603788" cy="882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Finished all 7 NetAcad modules covering OSINT recon (Google Dorking, WHOIS, Shodan, theHarvester), active Nmap scanning (SYN, version detection, OS fingerprinting), Metasploit Framework architecture, Cyber Kill Chain, and post-exploitation methodology.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80552" y="4726852"/>
            <a:ext cx="4064677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OverTheWire Bandit — All 35 Levels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7315200" y="5052439"/>
            <a:ext cx="6657261" cy="791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Completed all 35 Bandit levels: SSH key authentication, encoding/decoding, SUID binary exploitation, cron-based privilege escalation, restricted shell escape via vi and the $0 variable, and full Git forensics across commit history, branches, and tags.</a:t>
            </a:r>
            <a:endParaRPr lang="en-US" sz="145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85EFF6D-B68E-7598-F406-52E45B0266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3221" y="-95419"/>
            <a:ext cx="1393032" cy="139303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4890" y="271295"/>
            <a:ext cx="4640104" cy="579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50"/>
              </a:lnSpc>
              <a:buNone/>
            </a:pPr>
            <a:r>
              <a:rPr lang="en-US" sz="36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Post-Internship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404890" y="1198315"/>
            <a:ext cx="13067586" cy="5745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With Phase 2 complete, the focus now shifts to advanced web exploitation, certification preparation, and transitioning from guided labs to fully independent offensive security practice.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717668" y="2152811"/>
            <a:ext cx="6168509" cy="185499"/>
          </a:xfrm>
          <a:prstGeom prst="roundRect">
            <a:avLst>
              <a:gd name="adj" fmla="val 15009"/>
            </a:avLst>
          </a:prstGeom>
          <a:solidFill>
            <a:srgbClr val="E9EC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439300" y="1967192"/>
            <a:ext cx="556736" cy="556736"/>
          </a:xfrm>
          <a:prstGeom prst="roundRect">
            <a:avLst>
              <a:gd name="adj" fmla="val 82122"/>
            </a:avLst>
          </a:prstGeom>
          <a:solidFill>
            <a:srgbClr val="E9ECF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484" y="2106377"/>
            <a:ext cx="278368" cy="2783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24800" y="2697403"/>
            <a:ext cx="4345424" cy="290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Advanced Natas Levels (6+) &amp; Deep Web Security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24800" y="3091500"/>
            <a:ext cx="6075998" cy="1149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 through Natas 6+ which introduce PHP source analysis, SQL injection, Local File Inclusion (LFI), command injection, and more advanced OWASP Top 10 vulnerability classes.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7303729" y="2153792"/>
            <a:ext cx="6168628" cy="185499"/>
          </a:xfrm>
          <a:prstGeom prst="roundRect">
            <a:avLst>
              <a:gd name="adj" fmla="val 15009"/>
            </a:avLst>
          </a:prstGeom>
          <a:solidFill>
            <a:srgbClr val="E9EC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7025360" y="1968173"/>
            <a:ext cx="556736" cy="556736"/>
          </a:xfrm>
          <a:prstGeom prst="roundRect">
            <a:avLst>
              <a:gd name="adj" fmla="val 82122"/>
            </a:avLst>
          </a:prstGeom>
          <a:solidFill>
            <a:srgbClr val="E9ECF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64545" y="2107357"/>
            <a:ext cx="278368" cy="2783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10860" y="2698384"/>
            <a:ext cx="3459480" cy="290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TryHackMe &amp; HackTheBox CTF Platforms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7210860" y="3092481"/>
            <a:ext cx="6076117" cy="1149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Tackle guided rooms on TryHackMe and real machines on HackTheBox to build structured methodology: enumeration, exploitation, privilege escalation, and professional report writing.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717669" y="4691004"/>
            <a:ext cx="5953448" cy="185499"/>
          </a:xfrm>
          <a:prstGeom prst="roundRect">
            <a:avLst>
              <a:gd name="adj" fmla="val 15009"/>
            </a:avLst>
          </a:prstGeom>
          <a:solidFill>
            <a:srgbClr val="E9EC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439300" y="4505385"/>
            <a:ext cx="537326" cy="556736"/>
          </a:xfrm>
          <a:prstGeom prst="roundRect">
            <a:avLst>
              <a:gd name="adj" fmla="val 82122"/>
            </a:avLst>
          </a:prstGeom>
          <a:solidFill>
            <a:srgbClr val="E9ECF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8484" y="4644569"/>
            <a:ext cx="268663" cy="27836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90391" y="5065280"/>
            <a:ext cx="4340436" cy="290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Certification Roadmap — eJPT, CEH, OSCP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590390" y="5459377"/>
            <a:ext cx="5864162" cy="861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Pursue eJPT as the first practical offensive credential, followed by CompTIA Security+, CEH, and ultimately OSCP — the gold standard in penetration testing certifications.</a:t>
            </a:r>
            <a:endParaRPr lang="en-US" sz="1450" dirty="0"/>
          </a:p>
        </p:txBody>
      </p:sp>
      <p:sp>
        <p:nvSpPr>
          <p:cNvPr id="19" name="Shape 14"/>
          <p:cNvSpPr/>
          <p:nvPr/>
        </p:nvSpPr>
        <p:spPr>
          <a:xfrm>
            <a:off x="7303729" y="4686179"/>
            <a:ext cx="5953563" cy="185499"/>
          </a:xfrm>
          <a:prstGeom prst="roundRect">
            <a:avLst>
              <a:gd name="adj" fmla="val 15009"/>
            </a:avLst>
          </a:prstGeom>
          <a:solidFill>
            <a:srgbClr val="E9EC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7025360" y="4508544"/>
            <a:ext cx="537326" cy="556736"/>
          </a:xfrm>
          <a:prstGeom prst="roundRect">
            <a:avLst>
              <a:gd name="adj" fmla="val 82122"/>
            </a:avLst>
          </a:prstGeom>
          <a:solidFill>
            <a:srgbClr val="E9ECF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64545" y="4712665"/>
            <a:ext cx="268663" cy="27836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10860" y="5091766"/>
            <a:ext cx="3615229" cy="2900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Cloud Security &amp; Digital Forensics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7210860" y="5485863"/>
            <a:ext cx="6849385" cy="861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Explore cloud security on AWS and Azure, develop expertise in digital forensics and incident response, and contribute to open-source security tooling to build a public portfolio.</a:t>
            </a:r>
            <a:endParaRPr lang="en-US" sz="145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9709984-DA2F-A4D5-F150-ABBEDEA5EA9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513531" y="-135244"/>
            <a:ext cx="1393032" cy="13930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7188" y="90487"/>
            <a:ext cx="4465558" cy="558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350"/>
              </a:lnSpc>
              <a:buNone/>
            </a:pPr>
            <a:r>
              <a:rPr lang="en-US" sz="35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Key Learnings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367188" y="970121"/>
            <a:ext cx="13042821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 2 produced deep, practical learning outcomes — each grounded in hands-on execution. These are not theoretical takeaways; they are skills tested and validated under real lab and project conditions.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7188" y="1693902"/>
            <a:ext cx="4240411" cy="2686050"/>
          </a:xfrm>
          <a:prstGeom prst="roundRect">
            <a:avLst>
              <a:gd name="adj" fmla="val 4085"/>
            </a:avLst>
          </a:prstGeom>
          <a:solidFill>
            <a:srgbClr val="FBFCFE"/>
          </a:solidFill>
          <a:ln w="22860">
            <a:solidFill>
              <a:srgbClr val="CFD2D8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328" y="1693902"/>
            <a:ext cx="91440" cy="268605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7221" y="1895355"/>
            <a:ext cx="3048833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Real-World Projects Build True Depth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637221" y="2270759"/>
            <a:ext cx="3768923" cy="1628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Building the Honeypot System end-to-end — socket programming to live dashboard — taught architecture, debugging, and full-stack integration in a way no tutorial could replicate.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768333" y="1693902"/>
            <a:ext cx="4240411" cy="2686050"/>
          </a:xfrm>
          <a:prstGeom prst="roundRect">
            <a:avLst>
              <a:gd name="adj" fmla="val 4085"/>
            </a:avLst>
          </a:prstGeom>
          <a:solidFill>
            <a:srgbClr val="FBFCFE"/>
          </a:solidFill>
          <a:ln w="22860">
            <a:solidFill>
              <a:srgbClr val="CFD2D8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473" y="1693902"/>
            <a:ext cx="91440" cy="26860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038367" y="1895355"/>
            <a:ext cx="3768923" cy="557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Web Applications Expose Surprising Weaknesses</a:t>
            </a:r>
            <a:endParaRPr lang="en-US" sz="1750" dirty="0"/>
          </a:p>
        </p:txBody>
      </p:sp>
      <p:sp>
        <p:nvSpPr>
          <p:cNvPr id="11" name="Text 7"/>
          <p:cNvSpPr/>
          <p:nvPr/>
        </p:nvSpPr>
        <p:spPr>
          <a:xfrm>
            <a:off x="5038367" y="2549723"/>
            <a:ext cx="3768923" cy="1628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Even the first 5 Natas levels showed how HTML source, cookies, directory listings, robots.txt, and HTTP headers routinely leak sensitive data in ways developers consistently overlook.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9169478" y="1693902"/>
            <a:ext cx="4568037" cy="2686050"/>
          </a:xfrm>
          <a:prstGeom prst="roundRect">
            <a:avLst>
              <a:gd name="adj" fmla="val 4085"/>
            </a:avLst>
          </a:prstGeom>
          <a:solidFill>
            <a:srgbClr val="FBFCFE"/>
          </a:solidFill>
          <a:ln w="22860">
            <a:solidFill>
              <a:srgbClr val="CFD2D8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6618" y="1693902"/>
            <a:ext cx="91440" cy="268605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439512" y="1895355"/>
            <a:ext cx="3609514" cy="858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WiFi is More Vulnerable Than Expected</a:t>
            </a:r>
            <a:endParaRPr lang="en-US" sz="1750" dirty="0"/>
          </a:p>
        </p:txBody>
      </p:sp>
      <p:sp>
        <p:nvSpPr>
          <p:cNvPr id="15" name="Text 10"/>
          <p:cNvSpPr/>
          <p:nvPr/>
        </p:nvSpPr>
        <p:spPr>
          <a:xfrm>
            <a:off x="9439512" y="2270759"/>
            <a:ext cx="3768923" cy="1628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Capturing a WPA2 handshake and cracking it in under 3 minutes demonstrated exactly why strong passphrases, WPA3 adoption, and disabling WPS are non-negotiable in any real network.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390048" y="4455835"/>
            <a:ext cx="5741811" cy="2181633"/>
          </a:xfrm>
          <a:prstGeom prst="roundRect">
            <a:avLst>
              <a:gd name="adj" fmla="val 4085"/>
            </a:avLst>
          </a:prstGeom>
          <a:solidFill>
            <a:srgbClr val="FBFCFE"/>
          </a:solidFill>
          <a:ln w="22860">
            <a:solidFill>
              <a:srgbClr val="CFD2D8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679" y="4455835"/>
            <a:ext cx="97670" cy="207986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60081" y="4657289"/>
            <a:ext cx="5103383" cy="4531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Git History is Permanent</a:t>
            </a:r>
            <a:endParaRPr lang="en-US" sz="1750" dirty="0"/>
          </a:p>
        </p:txBody>
      </p:sp>
      <p:sp>
        <p:nvSpPr>
          <p:cNvPr id="19" name="Text 13"/>
          <p:cNvSpPr/>
          <p:nvPr/>
        </p:nvSpPr>
        <p:spPr>
          <a:xfrm>
            <a:off x="660081" y="5311656"/>
            <a:ext cx="5103383" cy="1322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Credentials accidentally committed to a repo remain in git history even after deletion — a frequently exploited real-world vulnerability every developer and security professional must internalize.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7089290" y="4455835"/>
            <a:ext cx="6320600" cy="2181633"/>
          </a:xfrm>
          <a:prstGeom prst="roundRect">
            <a:avLst>
              <a:gd name="adj" fmla="val 4085"/>
            </a:avLst>
          </a:prstGeom>
          <a:solidFill>
            <a:srgbClr val="FBFCFE"/>
          </a:solidFill>
          <a:ln w="22860">
            <a:solidFill>
              <a:srgbClr val="CFD2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5"/>
          <p:cNvSpPr/>
          <p:nvPr/>
        </p:nvSpPr>
        <p:spPr>
          <a:xfrm>
            <a:off x="7658336" y="4742140"/>
            <a:ext cx="3768923" cy="557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dirty="0">
                <a:solidFill>
                  <a:srgbClr val="15213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Scripting Multiplies Effectiveness</a:t>
            </a:r>
            <a:endParaRPr lang="en-US" sz="1750" dirty="0"/>
          </a:p>
        </p:txBody>
      </p:sp>
      <p:sp>
        <p:nvSpPr>
          <p:cNvPr id="23" name="Text 16"/>
          <p:cNvSpPr/>
          <p:nvPr/>
        </p:nvSpPr>
        <p:spPr>
          <a:xfrm>
            <a:off x="7658336" y="5396507"/>
            <a:ext cx="5751553" cy="1357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Writing a brute-force log detector and port scanner transformed abstract Bash knowledge into real security tooling — automation turns a manual analyst into a force multiplier.</a:t>
            </a:r>
            <a:endParaRPr lang="en-US" sz="14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9B13BF27-EC23-4FD8-D02F-0CC8BE1BDC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08004" y="-131922"/>
            <a:ext cx="1393032" cy="1393032"/>
          </a:xfrm>
          <a:prstGeom prst="rect">
            <a:avLst/>
          </a:prstGeom>
        </p:spPr>
      </p:pic>
      <p:pic>
        <p:nvPicPr>
          <p:cNvPr id="26" name="Image 3" descr="preencoded.png">
            <a:extLst>
              <a:ext uri="{FF2B5EF4-FFF2-40B4-BE49-F238E27FC236}">
                <a16:creationId xmlns:a16="http://schemas.microsoft.com/office/drawing/2014/main" id="{0E2109A1-CC43-035F-1723-B5B6623AF9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0517" y="4476393"/>
            <a:ext cx="97670" cy="20798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493" y="306537"/>
            <a:ext cx="5363528" cy="5891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00"/>
              </a:lnSpc>
              <a:buNone/>
            </a:pPr>
            <a:r>
              <a:rPr lang="en-US" sz="37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Project: Honeypot System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521493" y="1253798"/>
            <a:ext cx="13042821" cy="588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multi-service honeypot built to capture, log, and visualise real-world attack traffic in real time — featuring four concurrent services and a live threat-intelligence dashboard.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385642" y="2043658"/>
            <a:ext cx="6563082" cy="3520928"/>
          </a:xfrm>
          <a:prstGeom prst="roundRect">
            <a:avLst>
              <a:gd name="adj" fmla="val 559"/>
            </a:avLst>
          </a:prstGeom>
          <a:solidFill>
            <a:srgbClr val="5E98F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74118" y="2222728"/>
            <a:ext cx="2780705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SSH, FTP &amp; Telnet Honeypots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574118" y="2696478"/>
            <a:ext cx="6186130" cy="882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Listens on port 2222 (SSH), 2121 (FTP), and 2323 (Telnet) — presents realistic service banners, captures every credential pair attempted across all three protocols, and logs them instantly to the database.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74118" y="3758158"/>
            <a:ext cx="2356842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HTTP Honeypot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574118" y="4231908"/>
            <a:ext cx="6186130" cy="117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convincing decoy pages (WordPress login, phpMyAdmin, Jenkins, Jupyter, .env files) on port 8888 — fingerprints 13 known scanner tools (Nmap, Masscan, Nikto, Shodan, Censys, sqlmap, Metasploit, and more) and logs every probe with full payload capture.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80551" y="1873935"/>
            <a:ext cx="4095171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Live Threat Dashboard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7280552" y="2207954"/>
            <a:ext cx="6603788" cy="117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Flask + Socket.IO real-time UI with attack stats, global origin map, hourly timeline, top attacker chart, and credential intelligence feed — events stream instantly via push updates with zero polling delay. Discord &amp; Slack webhook alerts included.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280552" y="3703569"/>
            <a:ext cx="4205648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GeoIP Enrichment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7315200" y="3984454"/>
            <a:ext cx="6603788" cy="882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attacker IP is automatically resolved to country, city, and coordinates — enabling geographic threat visualisation on a live world map.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80552" y="5238999"/>
            <a:ext cx="4064677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SQLite Event Logging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7315200" y="5564586"/>
            <a:ext cx="6657261" cy="791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events persisted in a local structured database with full metadata — no external infrastructure required.</a:t>
            </a:r>
            <a:endParaRPr lang="en-US" sz="14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4A79D52-6876-9580-F617-26A4D5DB86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3954" y="-86201"/>
            <a:ext cx="1393032" cy="1393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1493" y="306537"/>
            <a:ext cx="5363528" cy="5891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600"/>
              </a:lnSpc>
              <a:buNone/>
            </a:pPr>
            <a:r>
              <a:rPr lang="en-US" sz="37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Technical Architecture</a:t>
            </a:r>
            <a:endParaRPr lang="en-US" sz="3700" dirty="0"/>
          </a:p>
        </p:txBody>
      </p:sp>
      <p:sp>
        <p:nvSpPr>
          <p:cNvPr id="3" name="Text 1"/>
          <p:cNvSpPr/>
          <p:nvPr/>
        </p:nvSpPr>
        <p:spPr>
          <a:xfrm>
            <a:off x="521493" y="1253798"/>
            <a:ext cx="13042821" cy="588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Built entirely in Python — five daemon threads launched from main.py, each handling a distinct attack surface with shared SQLite storage.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385642" y="2043658"/>
            <a:ext cx="6563082" cy="3520928"/>
          </a:xfrm>
          <a:prstGeom prst="roundRect">
            <a:avLst>
              <a:gd name="adj" fmla="val 559"/>
            </a:avLst>
          </a:prstGeom>
          <a:solidFill>
            <a:srgbClr val="5E98F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74118" y="2222728"/>
            <a:ext cx="2780705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Python &amp; Paramiko (SSH)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574118" y="2696478"/>
            <a:ext cx="6186130" cy="882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Custom SSH server emulated via paramiko — handles host-key negotiation, authentication callbacks, and per-session credential capture.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74118" y="3758158"/>
            <a:ext cx="2356842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Flask (HTTP Honeypot + Dashboard)</a:t>
            </a:r>
            <a:endParaRPr lang="en-US" sz="1850" dirty="0"/>
          </a:p>
        </p:txBody>
      </p:sp>
      <p:sp>
        <p:nvSpPr>
          <p:cNvPr id="8" name="Text 6"/>
          <p:cNvSpPr/>
          <p:nvPr/>
        </p:nvSpPr>
        <p:spPr>
          <a:xfrm>
            <a:off x="574118" y="4231908"/>
            <a:ext cx="6186130" cy="117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Two separate Flask apps: one simulates SSH/FTP/Telnet/HTTP decoy endpoints; the other exposes REST API endpoints (/api/stats, /api/events, /api/top-credentials) and Socket.IO for real-time event push to the dashboard.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80551" y="1873935"/>
            <a:ext cx="4095171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Real-Time Frontend (JS)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7280552" y="2207954"/>
            <a:ext cx="6603788" cy="117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Dashboard built with Chart.js for live charts and Leaflet.js for the attack-origin world map — events stream instantly via Socket.IO push (no polling). Scramble/glitch animations and CRT scanlines give it a live threat-intel aesthetic.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280552" y="3703569"/>
            <a:ext cx="4205648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Skills Demonstrated</a:t>
            </a:r>
            <a:endParaRPr lang="en-US" sz="1850" dirty="0"/>
          </a:p>
        </p:txBody>
      </p:sp>
      <p:sp>
        <p:nvSpPr>
          <p:cNvPr id="12" name="Text 10"/>
          <p:cNvSpPr/>
          <p:nvPr/>
        </p:nvSpPr>
        <p:spPr>
          <a:xfrm>
            <a:off x="7315200" y="3984454"/>
            <a:ext cx="6603788" cy="882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Raw TCP sockets (FTP/Telnet), paramiko SSH server, multi-threading, REST API design, Socket.IO real-time push, GeoIP + ASN enrichment, SQLite with WAL, and full-stack web dev — all in one project.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80552" y="5238999"/>
            <a:ext cx="4064677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Security Concept Applied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7315200" y="5564586"/>
            <a:ext cx="6657261" cy="791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Deception-based detection: honeypots lure attackers and silently collect intelligence without exposing any real production infrastructure.</a:t>
            </a:r>
            <a:endParaRPr lang="en-US" sz="14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D275E4D-B71E-A3F0-61C6-8F43AF340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3954" y="-86201"/>
            <a:ext cx="1393032" cy="13930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8030" y="263723"/>
            <a:ext cx="6267786" cy="6099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50"/>
              </a:lnSpc>
              <a:buNone/>
            </a:pPr>
            <a:r>
              <a:rPr lang="en-US" sz="390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Conclusion &amp; Future Plans</a:t>
            </a:r>
            <a:endParaRPr lang="en-US" sz="3900" dirty="0"/>
          </a:p>
        </p:txBody>
      </p:sp>
      <p:sp>
        <p:nvSpPr>
          <p:cNvPr id="3" name="Text 1"/>
          <p:cNvSpPr/>
          <p:nvPr/>
        </p:nvSpPr>
        <p:spPr>
          <a:xfrm>
            <a:off x="428030" y="1280637"/>
            <a:ext cx="13252735" cy="93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 2 of this internship with Pragyan EduSec LLP marks a decisive transition — from foundational knowledge to real-world execution. The culmination of this phase is a fully functional, deployable cybersecurity project and a completed wargame curriculum across both Bandit and Natas.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428030" y="2654855"/>
            <a:ext cx="3750340" cy="3051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3257B8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What Phase 2 Delivered</a:t>
            </a:r>
            <a:endParaRPr lang="en-US" sz="19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2443" y="3198017"/>
            <a:ext cx="302447" cy="3024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2872" y="3188255"/>
            <a:ext cx="6412356" cy="6247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project delivery: the Honeypot System — a production-quality Python tool capturing live attack traffic with SSH, HTTP, FTP + Telnet decoys, GeoIP enrichment, and a real-time dashboard.</a:t>
            </a:r>
            <a:endParaRPr lang="en-US" sz="15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2443" y="4229932"/>
            <a:ext cx="302447" cy="3024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72872" y="4220171"/>
            <a:ext cx="6412356" cy="937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Complete wargame mastery: all 35 Bandit levels + Natas levels 0-5, covering privilege escalation, shell escapes, Git forensics, and OWASP Top 10 web vulnerabilities.</a:t>
            </a:r>
            <a:endParaRPr lang="en-US" sz="15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2443" y="5579386"/>
            <a:ext cx="302447" cy="30244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72872" y="5569624"/>
            <a:ext cx="6412356" cy="6247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b="1" dirty="0">
                <a:solidFill>
                  <a:srgbClr val="15213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Advanced practical skills: WPA2 WiFi penetration testing, Bash security scripting, all Cisco Ethical Hacker modules, and hands-on web exploitation — each validated in live or authorized lab environments.</a:t>
            </a:r>
            <a:endParaRPr lang="en-US" sz="1550" dirty="0"/>
          </a:p>
        </p:txBody>
      </p:sp>
      <p:sp>
        <p:nvSpPr>
          <p:cNvPr id="11" name="Shape 6"/>
          <p:cNvSpPr/>
          <p:nvPr/>
        </p:nvSpPr>
        <p:spPr>
          <a:xfrm>
            <a:off x="7732514" y="2456498"/>
            <a:ext cx="5983486" cy="4199692"/>
          </a:xfrm>
          <a:prstGeom prst="roundRect">
            <a:avLst>
              <a:gd name="adj" fmla="val 697"/>
            </a:avLst>
          </a:prstGeom>
          <a:solidFill>
            <a:srgbClr val="5E98F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7"/>
          <p:cNvSpPr/>
          <p:nvPr/>
        </p:nvSpPr>
        <p:spPr>
          <a:xfrm>
            <a:off x="7930872" y="2654855"/>
            <a:ext cx="2520833" cy="3051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Career Track</a:t>
            </a:r>
            <a:endParaRPr lang="en-US" sz="1950" dirty="0"/>
          </a:p>
        </p:txBody>
      </p:sp>
      <p:sp>
        <p:nvSpPr>
          <p:cNvPr id="13" name="Text 8"/>
          <p:cNvSpPr/>
          <p:nvPr/>
        </p:nvSpPr>
        <p:spPr>
          <a:xfrm>
            <a:off x="7930871" y="3163371"/>
            <a:ext cx="5580385" cy="312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15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path forward is purposefully structured:</a:t>
            </a:r>
            <a:endParaRPr lang="en-US" sz="1550" dirty="0"/>
          </a:p>
        </p:txBody>
      </p:sp>
      <p:sp>
        <p:nvSpPr>
          <p:cNvPr id="14" name="Text 9"/>
          <p:cNvSpPr/>
          <p:nvPr/>
        </p:nvSpPr>
        <p:spPr>
          <a:xfrm>
            <a:off x="7930871" y="3659505"/>
            <a:ext cx="5580385" cy="2947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Pursue eJPT then CEH then OSCP certifications to formalize and validate offensive security expertise.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Continue Natas (6+), TryHackMe rooms, and HackTheBox machines for independent CTF practice.</a:t>
            </a:r>
            <a:endParaRPr lang="en-US" sz="1550" dirty="0"/>
          </a:p>
          <a:p>
            <a:pPr marL="342900" indent="-342900" algn="l">
              <a:lnSpc>
                <a:spcPts val="2500"/>
              </a:lnSpc>
              <a:buSzPct val="100000"/>
              <a:buChar char="•"/>
            </a:pPr>
            <a:r>
              <a:rPr lang="en-US" sz="155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Explore cloud security (AWS/Azure), digital forensics, and contribute to open-source security projects to build a professional portfolio.</a:t>
            </a:r>
            <a:endParaRPr lang="en-US" sz="15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9889EBF-21C3-2026-4689-F2192A0CBE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93954" y="-86201"/>
            <a:ext cx="1393032" cy="1393032"/>
          </a:xfrm>
          <a:prstGeom prst="rect">
            <a:avLst/>
          </a:prstGeom>
        </p:spPr>
      </p:pic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ain Event">
  <a:themeElements>
    <a:clrScheme name="Main Event">
      <a:dk1>
        <a:sysClr val="windowText" lastClr="000000"/>
      </a:dk1>
      <a:lt1>
        <a:sysClr val="window" lastClr="FFFFFF"/>
      </a:lt1>
      <a:dk2>
        <a:srgbClr val="424242"/>
      </a:dk2>
      <a:lt2>
        <a:srgbClr val="C8C8C8"/>
      </a:lt2>
      <a:accent1>
        <a:srgbClr val="B80E0F"/>
      </a:accent1>
      <a:accent2>
        <a:srgbClr val="A6987D"/>
      </a:accent2>
      <a:accent3>
        <a:srgbClr val="7F9A71"/>
      </a:accent3>
      <a:accent4>
        <a:srgbClr val="64969F"/>
      </a:accent4>
      <a:accent5>
        <a:srgbClr val="9B75B2"/>
      </a:accent5>
      <a:accent6>
        <a:srgbClr val="80737A"/>
      </a:accent6>
      <a:hlink>
        <a:srgbClr val="F21213"/>
      </a:hlink>
      <a:folHlink>
        <a:srgbClr val="B6A394"/>
      </a:folHlink>
    </a:clrScheme>
    <a:fontScheme name="Main Event">
      <a:maj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ain Even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blipFill>
          <a:blip xmlns:r="http://schemas.openxmlformats.org/officeDocument/2006/relationships" r:embed="rId1">
            <a:duotone>
              <a:schemeClr val="phClr">
                <a:shade val="88000"/>
                <a:lumMod val="88000"/>
              </a:schemeClr>
              <a:schemeClr val="phClr"/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25400" dist="127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0"/>
        </a:gradFill>
        <a:blipFill>
          <a:blip xmlns:r="http://schemas.openxmlformats.org/officeDocument/2006/relationships" r:embed="rId2">
            <a:duotone>
              <a:schemeClr val="phClr">
                <a:shade val="48000"/>
                <a:satMod val="110000"/>
                <a:lumMod val="40000"/>
              </a:schemeClr>
              <a:schemeClr val="phClr">
                <a:tint val="90000"/>
                <a:lumMod val="10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Event" id="{AC372BB4-D83D-411E-B849-B641926BA760}" vid="{F1EFBDE3-1A95-4E3D-81AD-1F53D65BEA0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Main Event</Template>
  <TotalTime>57</TotalTime>
  <Words>1679</Words>
  <Application>Microsoft Office PowerPoint</Application>
  <PresentationFormat>Custom</PresentationFormat>
  <Paragraphs>112</Paragraphs>
  <Slides>9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Roboto</vt:lpstr>
      <vt:lpstr>Roboto Slab</vt:lpstr>
      <vt:lpstr>Arial</vt:lpstr>
      <vt:lpstr>Impact</vt:lpstr>
      <vt:lpstr>Main Event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Amogh Ukkadgatri</dc:creator>
  <cp:lastModifiedBy>Amogh Ukkadgatri</cp:lastModifiedBy>
  <cp:revision>12</cp:revision>
  <dcterms:created xsi:type="dcterms:W3CDTF">2026-04-12T07:59:01Z</dcterms:created>
  <dcterms:modified xsi:type="dcterms:W3CDTF">2026-05-17T13:30:29Z</dcterms:modified>
</cp:coreProperties>
</file>